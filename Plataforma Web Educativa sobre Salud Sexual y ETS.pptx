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9629B">
                  <a:alpha val="90000"/>
                </a:srgbClr>
              </a:gs>
              <a:gs pos="100000">
                <a:srgbClr val="5E35B1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9799" y="1064900"/>
            <a:ext cx="6457788" cy="188974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sz="3588" b="1" dirty="0">
                <a:solidFill>
                  <a:srgbClr val="FFFFFF"/>
                </a:solidFill>
              </a:rPr>
              <a:t>ETS </a:t>
            </a:r>
            <a:r>
              <a:rPr sz="3588" b="1" dirty="0" err="1">
                <a:solidFill>
                  <a:srgbClr val="FFFFFF"/>
                </a:solidFill>
              </a:rPr>
              <a:t>Infoplus</a:t>
            </a:r>
            <a:r>
              <a:rPr sz="3588" b="1" dirty="0">
                <a:solidFill>
                  <a:srgbClr val="FFFFFF"/>
                </a:solidFill>
              </a:rPr>
              <a:t>: Plataforma digital para la </a:t>
            </a:r>
            <a:r>
              <a:rPr sz="3588" b="1" dirty="0" err="1">
                <a:solidFill>
                  <a:srgbClr val="FFFFFF"/>
                </a:solidFill>
              </a:rPr>
              <a:t>educación</a:t>
            </a:r>
            <a:r>
              <a:rPr sz="3588" b="1" dirty="0">
                <a:solidFill>
                  <a:srgbClr val="FFFFFF"/>
                </a:solidFill>
              </a:rPr>
              <a:t> y </a:t>
            </a:r>
            <a:r>
              <a:rPr sz="3588" b="1" dirty="0" err="1">
                <a:solidFill>
                  <a:srgbClr val="FFFFFF"/>
                </a:solidFill>
              </a:rPr>
              <a:t>el</a:t>
            </a:r>
            <a:r>
              <a:rPr sz="3588" b="1" dirty="0">
                <a:solidFill>
                  <a:srgbClr val="FFFFFF"/>
                </a:solidFill>
              </a:rPr>
              <a:t> </a:t>
            </a:r>
            <a:r>
              <a:rPr sz="3588" b="1" dirty="0" err="1">
                <a:solidFill>
                  <a:srgbClr val="FFFFFF"/>
                </a:solidFill>
              </a:rPr>
              <a:t>diagnóstico</a:t>
            </a:r>
            <a:r>
              <a:rPr sz="3588" b="1" dirty="0">
                <a:solidFill>
                  <a:srgbClr val="FFFFFF"/>
                </a:solidFill>
              </a:rPr>
              <a:t> de (ETS)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7534" y="3182714"/>
            <a:ext cx="3381247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b="0" dirty="0">
                <a:solidFill>
                  <a:srgbClr val="E0E0E0"/>
                </a:solidFill>
              </a:rPr>
              <a:t>Proyecto de Ingeniería </a:t>
            </a:r>
            <a:r>
              <a:rPr b="0" dirty="0" err="1">
                <a:solidFill>
                  <a:srgbClr val="E0E0E0"/>
                </a:solidFill>
              </a:rPr>
              <a:t>Informática</a:t>
            </a:r>
            <a:endParaRPr b="0" dirty="0">
              <a:solidFill>
                <a:srgbClr val="E0E0E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733" y="4051690"/>
            <a:ext cx="1669881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E0E0E0"/>
                </a:solidFill>
              </a:rPr>
              <a:t>Equipo de Desarrollo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4476750"/>
            <a:ext cx="1866853" cy="371475"/>
          </a:xfrm>
          <a:prstGeom prst="roundRect">
            <a:avLst>
              <a:gd name="adj" fmla="val 4102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4597213"/>
            <a:ext cx="190495" cy="1400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6298" y="4514754"/>
            <a:ext cx="1286506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E0E0E0"/>
                </a:solidFill>
              </a:rPr>
              <a:t>Jacobo Morales 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6458" y="4476750"/>
            <a:ext cx="2162120" cy="371475"/>
          </a:xfrm>
          <a:prstGeom prst="roundRect">
            <a:avLst>
              <a:gd name="adj" fmla="val 4102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9329" y="4597213"/>
            <a:ext cx="190495" cy="1400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86022" y="4514754"/>
            <a:ext cx="1524969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E0E0E0"/>
                </a:solidFill>
              </a:rPr>
              <a:t>Juan José Restrepo 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991100"/>
            <a:ext cx="2466913" cy="371475"/>
          </a:xfrm>
          <a:prstGeom prst="roundRect">
            <a:avLst>
              <a:gd name="adj" fmla="val 4102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51115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6298" y="5029104"/>
            <a:ext cx="1825821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E0E0E0"/>
                </a:solidFill>
              </a:rPr>
              <a:t>Joseph Alexander Morales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76518" y="4991100"/>
            <a:ext cx="2247843" cy="371475"/>
          </a:xfrm>
          <a:prstGeom prst="roundRect">
            <a:avLst>
              <a:gd name="adj" fmla="val 4102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9389" y="5111563"/>
            <a:ext cx="190495" cy="1400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86082" y="5029104"/>
            <a:ext cx="1618135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E0E0E0"/>
                </a:solidFill>
              </a:rPr>
              <a:t>Emmanuel Granados 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505450"/>
            <a:ext cx="1781130" cy="371475"/>
          </a:xfrm>
          <a:prstGeom prst="roundRect">
            <a:avLst>
              <a:gd name="adj" fmla="val 4102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5625913"/>
            <a:ext cx="190495" cy="1400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76298" y="5543454"/>
            <a:ext cx="1217513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E0E0E0"/>
                </a:solidFill>
              </a:rPr>
              <a:t>Samuel Torres 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5512" y="2314575"/>
            <a:ext cx="4019449" cy="2228850"/>
          </a:xfrm>
          <a:prstGeom prst="roundRect">
            <a:avLst>
              <a:gd name="adj" fmla="val 13675"/>
            </a:avLst>
          </a:prstGeom>
          <a:solidFill>
            <a:srgbClr val="FFFFFF">
              <a:alpha val="2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0779" y="2638839"/>
            <a:ext cx="266693" cy="20872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10344" y="2569452"/>
            <a:ext cx="2304670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FFFFFF"/>
                </a:solidFill>
              </a:rPr>
              <a:t>Educación</a:t>
            </a:r>
            <a:r>
              <a:rPr sz="1600" b="1" dirty="0">
                <a:solidFill>
                  <a:srgbClr val="FFFFFF"/>
                </a:solidFill>
              </a:rPr>
              <a:t> Sexual Integral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0779" y="3087342"/>
            <a:ext cx="266693" cy="2261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10344" y="3026652"/>
            <a:ext cx="2368534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</a:rPr>
              <a:t>Plataforma Web </a:t>
            </a:r>
            <a:r>
              <a:rPr sz="1600" b="1" dirty="0" err="1">
                <a:solidFill>
                  <a:srgbClr val="FFFFFF"/>
                </a:solidFill>
              </a:rPr>
              <a:t>Accesible</a:t>
            </a:r>
            <a:endParaRPr sz="1600" b="1" dirty="0">
              <a:solidFill>
                <a:srgbClr val="FFFFFF"/>
              </a:solidFill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0779" y="3532946"/>
            <a:ext cx="266693" cy="24930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10344" y="3483852"/>
            <a:ext cx="2081083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FFFFFF"/>
                </a:solidFill>
              </a:rPr>
              <a:t>Información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Verificada</a:t>
            </a:r>
            <a:endParaRPr sz="1600" b="1" dirty="0">
              <a:solidFill>
                <a:srgbClr val="FFFFFF"/>
              </a:solidFill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00779" y="4010439"/>
            <a:ext cx="266693" cy="20872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10344" y="3941052"/>
            <a:ext cx="1770100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FFFFFF"/>
                </a:solidFill>
              </a:rPr>
              <a:t>Rompiendo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Tabúes</a:t>
            </a:r>
            <a:endParaRPr sz="16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9629B">
                <a:alpha val="95000"/>
              </a:srgbClr>
            </a:gs>
            <a:gs pos="100000">
              <a:srgbClr val="5E35B1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27003"/>
            <a:ext cx="7126759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</a:rPr>
              <a:t>El </a:t>
            </a:r>
            <a:r>
              <a:rPr sz="3200" b="1" dirty="0" err="1">
                <a:solidFill>
                  <a:srgbClr val="FFFFFF"/>
                </a:solidFill>
              </a:rPr>
              <a:t>Problema</a:t>
            </a:r>
            <a:r>
              <a:rPr sz="3200" b="1" dirty="0">
                <a:solidFill>
                  <a:srgbClr val="FFFFFF"/>
                </a:solidFill>
              </a:rPr>
              <a:t>: </a:t>
            </a:r>
            <a:r>
              <a:rPr sz="3200" b="1" dirty="0" err="1">
                <a:solidFill>
                  <a:srgbClr val="FFFFFF"/>
                </a:solidFill>
              </a:rPr>
              <a:t>Tabú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en</a:t>
            </a:r>
            <a:r>
              <a:rPr sz="3200" b="1" dirty="0">
                <a:solidFill>
                  <a:srgbClr val="FFFFFF"/>
                </a:solidFill>
              </a:rPr>
              <a:t> la </a:t>
            </a:r>
            <a:r>
              <a:rPr sz="3200" b="1" dirty="0" err="1">
                <a:solidFill>
                  <a:srgbClr val="FFFFFF"/>
                </a:solidFill>
              </a:rPr>
              <a:t>Educación</a:t>
            </a:r>
            <a:r>
              <a:rPr sz="3200" b="1" dirty="0">
                <a:solidFill>
                  <a:srgbClr val="FFFFFF"/>
                </a:solidFill>
              </a:rPr>
              <a:t> Sexual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390613"/>
            <a:ext cx="5848203" cy="113672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950"/>
              </a:spcAft>
            </a:pPr>
            <a:r>
              <a:rPr b="0" dirty="0">
                <a:solidFill>
                  <a:srgbClr val="FFFFFF"/>
                </a:solidFill>
              </a:rPr>
              <a:t>La </a:t>
            </a:r>
            <a:r>
              <a:rPr b="0" dirty="0" err="1">
                <a:solidFill>
                  <a:srgbClr val="FFFFFF"/>
                </a:solidFill>
              </a:rPr>
              <a:t>educación</a:t>
            </a:r>
            <a:r>
              <a:rPr b="0" dirty="0">
                <a:solidFill>
                  <a:srgbClr val="FFFFFF"/>
                </a:solidFill>
              </a:rPr>
              <a:t> sexual </a:t>
            </a:r>
            <a:r>
              <a:rPr b="0" dirty="0" err="1">
                <a:solidFill>
                  <a:srgbClr val="FFFFFF"/>
                </a:solidFill>
              </a:rPr>
              <a:t>sigue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siendo</a:t>
            </a:r>
            <a:r>
              <a:rPr b="0" dirty="0">
                <a:solidFill>
                  <a:srgbClr val="FFFFFF"/>
                </a:solidFill>
              </a:rPr>
              <a:t> un </a:t>
            </a:r>
            <a:r>
              <a:rPr b="1" dirty="0" err="1">
                <a:solidFill>
                  <a:srgbClr val="A5D6FF"/>
                </a:solidFill>
              </a:rPr>
              <a:t>tema</a:t>
            </a:r>
            <a:r>
              <a:rPr b="1" dirty="0">
                <a:solidFill>
                  <a:srgbClr val="A5D6FF"/>
                </a:solidFill>
              </a:rPr>
              <a:t> </a:t>
            </a:r>
            <a:r>
              <a:rPr b="1" dirty="0" err="1">
                <a:solidFill>
                  <a:srgbClr val="A5D6FF"/>
                </a:solidFill>
              </a:rPr>
              <a:t>tabú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en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nuestra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sociedad</a:t>
            </a:r>
            <a:r>
              <a:rPr b="0" dirty="0">
                <a:solidFill>
                  <a:srgbClr val="FFFFFF"/>
                </a:solidFill>
              </a:rPr>
              <a:t>. La </a:t>
            </a:r>
            <a:r>
              <a:rPr b="0" dirty="0" err="1">
                <a:solidFill>
                  <a:srgbClr val="FFFFFF"/>
                </a:solidFill>
              </a:rPr>
              <a:t>mayoría</a:t>
            </a:r>
            <a:r>
              <a:rPr b="0" dirty="0">
                <a:solidFill>
                  <a:srgbClr val="FFFFFF"/>
                </a:solidFill>
              </a:rPr>
              <a:t> de personas </a:t>
            </a:r>
            <a:r>
              <a:rPr b="0" dirty="0" err="1">
                <a:solidFill>
                  <a:srgbClr val="FFFFFF"/>
                </a:solidFill>
              </a:rPr>
              <a:t>nunca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recibe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información</a:t>
            </a:r>
            <a:r>
              <a:rPr b="0" dirty="0">
                <a:solidFill>
                  <a:srgbClr val="FFFFFF"/>
                </a:solidFill>
              </a:rPr>
              <a:t> formal </a:t>
            </a:r>
            <a:r>
              <a:rPr b="0" dirty="0" err="1">
                <a:solidFill>
                  <a:srgbClr val="FFFFFF"/>
                </a:solidFill>
              </a:rPr>
              <a:t>sobre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salud</a:t>
            </a:r>
            <a:r>
              <a:rPr b="0" dirty="0">
                <a:solidFill>
                  <a:srgbClr val="FFFFFF"/>
                </a:solidFill>
              </a:rPr>
              <a:t> sexual, lo </a:t>
            </a:r>
            <a:r>
              <a:rPr b="0" dirty="0" err="1">
                <a:solidFill>
                  <a:srgbClr val="FFFFFF"/>
                </a:solidFill>
              </a:rPr>
              <a:t>que</a:t>
            </a:r>
            <a:r>
              <a:rPr b="0" dirty="0">
                <a:solidFill>
                  <a:srgbClr val="FFFFFF"/>
                </a:solidFill>
              </a:rPr>
              <a:t> genera un </a:t>
            </a:r>
            <a:r>
              <a:rPr b="0" dirty="0" err="1">
                <a:solidFill>
                  <a:srgbClr val="FFFFFF"/>
                </a:solidFill>
              </a:rPr>
              <a:t>ciclo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peligroso</a:t>
            </a:r>
            <a:r>
              <a:rPr b="0" dirty="0">
                <a:solidFill>
                  <a:srgbClr val="FFFFFF"/>
                </a:solidFill>
              </a:rPr>
              <a:t> de </a:t>
            </a:r>
            <a:r>
              <a:rPr b="1" dirty="0" err="1">
                <a:solidFill>
                  <a:srgbClr val="A5D6FF"/>
                </a:solidFill>
              </a:rPr>
              <a:t>desinformación</a:t>
            </a:r>
            <a:r>
              <a:rPr b="0" dirty="0">
                <a:solidFill>
                  <a:srgbClr val="FFFFFF"/>
                </a:solidFill>
              </a:rPr>
              <a:t>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2" y="2692458"/>
            <a:ext cx="5848203" cy="8802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950"/>
              </a:spcAft>
            </a:pPr>
            <a:r>
              <a:rPr b="0" dirty="0">
                <a:solidFill>
                  <a:srgbClr val="FFFFFF"/>
                </a:solidFill>
              </a:rPr>
              <a:t>Los </a:t>
            </a:r>
            <a:r>
              <a:rPr b="0" dirty="0" err="1">
                <a:solidFill>
                  <a:srgbClr val="FFFFFF"/>
                </a:solidFill>
              </a:rPr>
              <a:t>jóvenes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aprenden</a:t>
            </a:r>
            <a:r>
              <a:rPr b="0" dirty="0">
                <a:solidFill>
                  <a:srgbClr val="FFFFFF"/>
                </a:solidFill>
              </a:rPr>
              <a:t> de </a:t>
            </a:r>
            <a:r>
              <a:rPr b="0" dirty="0" err="1">
                <a:solidFill>
                  <a:srgbClr val="FFFFFF"/>
                </a:solidFill>
              </a:rPr>
              <a:t>fuentes</a:t>
            </a:r>
            <a:r>
              <a:rPr b="0" dirty="0">
                <a:solidFill>
                  <a:srgbClr val="FFFFFF"/>
                </a:solidFill>
              </a:rPr>
              <a:t> no </a:t>
            </a:r>
            <a:r>
              <a:rPr b="0" dirty="0" err="1">
                <a:solidFill>
                  <a:srgbClr val="FFFFFF"/>
                </a:solidFill>
              </a:rPr>
              <a:t>confiables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como</a:t>
            </a:r>
            <a:r>
              <a:rPr b="0" dirty="0">
                <a:solidFill>
                  <a:srgbClr val="FFFFFF"/>
                </a:solidFill>
              </a:rPr>
              <a:t> redes </a:t>
            </a:r>
            <a:r>
              <a:rPr b="0" dirty="0" err="1">
                <a:solidFill>
                  <a:srgbClr val="FFFFFF"/>
                </a:solidFill>
              </a:rPr>
              <a:t>sociales</a:t>
            </a:r>
            <a:r>
              <a:rPr b="0" dirty="0">
                <a:solidFill>
                  <a:srgbClr val="FFFFFF"/>
                </a:solidFill>
              </a:rPr>
              <a:t> o amigos, </a:t>
            </a:r>
            <a:r>
              <a:rPr b="0" dirty="0" err="1">
                <a:solidFill>
                  <a:srgbClr val="FFFFFF"/>
                </a:solidFill>
              </a:rPr>
              <a:t>propagando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mitos</a:t>
            </a:r>
            <a:r>
              <a:rPr b="0" dirty="0">
                <a:solidFill>
                  <a:srgbClr val="FFFFFF"/>
                </a:solidFill>
              </a:rPr>
              <a:t> y </a:t>
            </a:r>
            <a:r>
              <a:rPr b="0" dirty="0" err="1">
                <a:solidFill>
                  <a:srgbClr val="FFFFFF"/>
                </a:solidFill>
              </a:rPr>
              <a:t>conceptos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erróneos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b="0" dirty="0" err="1">
                <a:solidFill>
                  <a:srgbClr val="FFFFFF"/>
                </a:solidFill>
              </a:rPr>
              <a:t>sobre</a:t>
            </a:r>
            <a:r>
              <a:rPr b="0" dirty="0">
                <a:solidFill>
                  <a:srgbClr val="FFFFFF"/>
                </a:solidFill>
              </a:rPr>
              <a:t> las 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867149"/>
            <a:ext cx="5848203" cy="1981199"/>
          </a:xfrm>
          <a:prstGeom prst="roundRect">
            <a:avLst>
              <a:gd name="adj" fmla="val 15384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8525" y="4080145"/>
            <a:ext cx="2374624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200" dirty="0"/>
              <a:t>  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b="1" dirty="0" err="1">
                <a:solidFill>
                  <a:srgbClr val="FFFFFF"/>
                </a:solidFill>
              </a:rPr>
              <a:t>Consecuencias</a:t>
            </a:r>
            <a:r>
              <a:rPr sz="1600" b="1" dirty="0">
                <a:solidFill>
                  <a:srgbClr val="FFFFFF"/>
                </a:solidFill>
              </a:rPr>
              <a:t> Graves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4377" y="4158490"/>
            <a:ext cx="266693" cy="21741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6" y="4591050"/>
            <a:ext cx="266693" cy="2166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6573" y="4541127"/>
            <a:ext cx="4259371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Síntomas</a:t>
            </a:r>
            <a:r>
              <a:rPr sz="1600" b="0" dirty="0">
                <a:solidFill>
                  <a:srgbClr val="FFFFFF"/>
                </a:solidFill>
              </a:rPr>
              <a:t> no </a:t>
            </a:r>
            <a:r>
              <a:rPr sz="1600" b="0" dirty="0" err="1">
                <a:solidFill>
                  <a:srgbClr val="FFFFFF"/>
                </a:solidFill>
              </a:rPr>
              <a:t>reconocidos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1" dirty="0">
                <a:solidFill>
                  <a:srgbClr val="FFFFFF"/>
                </a:solidFill>
              </a:rPr>
              <a:t>→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diagnósticos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tardíos</a:t>
            </a:r>
            <a:r>
              <a:rPr sz="1600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377" y="5013007"/>
            <a:ext cx="228594" cy="165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6573" y="4922126"/>
            <a:ext cx="4090287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Estigma</a:t>
            </a:r>
            <a:r>
              <a:rPr sz="1600" b="0" dirty="0">
                <a:solidFill>
                  <a:srgbClr val="FFFFFF"/>
                </a:solidFill>
              </a:rPr>
              <a:t> social </a:t>
            </a:r>
            <a:r>
              <a:rPr sz="1600" b="1" dirty="0">
                <a:solidFill>
                  <a:srgbClr val="FFFFFF"/>
                </a:solidFill>
              </a:rPr>
              <a:t>→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ocultamiento</a:t>
            </a:r>
            <a:r>
              <a:rPr sz="1600" b="0" dirty="0">
                <a:solidFill>
                  <a:srgbClr val="FFFFFF"/>
                </a:solidFill>
              </a:rPr>
              <a:t> de la </a:t>
            </a:r>
            <a:r>
              <a:rPr sz="1600" b="0" dirty="0" err="1">
                <a:solidFill>
                  <a:srgbClr val="FFFFFF"/>
                </a:solidFill>
              </a:rPr>
              <a:t>condición</a:t>
            </a:r>
            <a:r>
              <a:rPr sz="1600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377" y="5379720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26573" y="5303127"/>
            <a:ext cx="4636013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FFFFFF"/>
                </a:solidFill>
              </a:rPr>
              <a:t> Vergüenza </a:t>
            </a:r>
            <a:r>
              <a:rPr sz="1600" b="1" dirty="0">
                <a:solidFill>
                  <a:srgbClr val="FFFFFF"/>
                </a:solidFill>
              </a:rPr>
              <a:t>→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evitación</a:t>
            </a:r>
            <a:r>
              <a:rPr sz="1600" b="0" dirty="0">
                <a:solidFill>
                  <a:srgbClr val="FFFFFF"/>
                </a:solidFill>
              </a:rPr>
              <a:t> de </a:t>
            </a:r>
            <a:r>
              <a:rPr sz="1600" b="0" dirty="0" err="1">
                <a:solidFill>
                  <a:srgbClr val="FFFFFF"/>
                </a:solidFill>
              </a:rPr>
              <a:t>conversaciones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necesarias</a:t>
            </a:r>
            <a:r>
              <a:rPr sz="1600" b="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5452" y="1691216"/>
            <a:ext cx="4609984" cy="379094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05452" y="4882090"/>
            <a:ext cx="4609984" cy="600075"/>
          </a:xfrm>
          <a:prstGeom prst="rect">
            <a:avLst/>
          </a:prstGeom>
          <a:gradFill rotWithShape="1">
            <a:gsLst>
              <a:gs pos="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5452" y="5087585"/>
            <a:ext cx="3313822" cy="32624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</a:rPr>
              <a:t>Rompiendo</a:t>
            </a:r>
            <a:r>
              <a:rPr sz="1400" b="1" dirty="0">
                <a:solidFill>
                  <a:srgbClr val="FFFFFF"/>
                </a:solidFill>
              </a:rPr>
              <a:t> barreras </a:t>
            </a:r>
            <a:r>
              <a:rPr sz="1400" b="1" dirty="0" err="1">
                <a:solidFill>
                  <a:srgbClr val="FFFFFF"/>
                </a:solidFill>
              </a:rPr>
              <a:t>en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educación</a:t>
            </a:r>
            <a:r>
              <a:rPr sz="1400" b="1" dirty="0">
                <a:solidFill>
                  <a:srgbClr val="FFFFFF"/>
                </a:solidFill>
              </a:rPr>
              <a:t> sexual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E35B1">
                <a:alpha val="95000"/>
              </a:srgbClr>
            </a:gs>
            <a:gs pos="100000">
              <a:srgbClr val="29629B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96226"/>
            <a:ext cx="4472828" cy="66479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dirty="0" err="1">
                <a:solidFill>
                  <a:srgbClr val="FFFFFF"/>
                </a:solidFill>
              </a:rPr>
              <a:t>Objetivos</a:t>
            </a:r>
            <a:r>
              <a:rPr sz="3600" b="1" dirty="0">
                <a:solidFill>
                  <a:srgbClr val="FFFFFF"/>
                </a:solidFill>
              </a:rPr>
              <a:t>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024051"/>
            <a:ext cx="2752100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1600" dirty="0"/>
              <a:t>  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lang="es-MX"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Objetivo</a:t>
            </a:r>
            <a:r>
              <a:rPr sz="2400" b="1" dirty="0">
                <a:solidFill>
                  <a:srgbClr val="FFFFFF"/>
                </a:solidFill>
              </a:rPr>
              <a:t> General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151281"/>
            <a:ext cx="304792" cy="2256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578441"/>
            <a:ext cx="6457788" cy="1352549"/>
          </a:xfrm>
          <a:prstGeom prst="roundRect">
            <a:avLst>
              <a:gd name="adj" fmla="val 22535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2234" y="1822963"/>
            <a:ext cx="6457788" cy="86350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FFFFFF"/>
                </a:solidFill>
              </a:rPr>
              <a:t>Crear </a:t>
            </a:r>
            <a:r>
              <a:rPr sz="1600" b="0" dirty="0" err="1">
                <a:solidFill>
                  <a:srgbClr val="FFFFFF"/>
                </a:solidFill>
              </a:rPr>
              <a:t>una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plataforma</a:t>
            </a:r>
            <a:r>
              <a:rPr sz="1600" b="0" dirty="0">
                <a:solidFill>
                  <a:srgbClr val="FFFFFF"/>
                </a:solidFill>
              </a:rPr>
              <a:t> web </a:t>
            </a:r>
            <a:r>
              <a:rPr sz="1600" b="0" dirty="0" err="1">
                <a:solidFill>
                  <a:srgbClr val="FFFFFF"/>
                </a:solidFill>
              </a:rPr>
              <a:t>que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sirva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como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A5D6FF"/>
                </a:solidFill>
              </a:rPr>
              <a:t>herramienta</a:t>
            </a:r>
            <a:r>
              <a:rPr sz="1600" b="1" dirty="0">
                <a:solidFill>
                  <a:srgbClr val="A5D6FF"/>
                </a:solidFill>
              </a:rPr>
              <a:t> </a:t>
            </a:r>
            <a:r>
              <a:rPr sz="1600" b="1" dirty="0" err="1">
                <a:solidFill>
                  <a:srgbClr val="A5D6FF"/>
                </a:solidFill>
              </a:rPr>
              <a:t>educativa</a:t>
            </a:r>
            <a:r>
              <a:rPr sz="1600" b="1" dirty="0">
                <a:solidFill>
                  <a:srgbClr val="A5D6FF"/>
                </a:solidFill>
              </a:rPr>
              <a:t> integral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sobre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salud</a:t>
            </a:r>
            <a:r>
              <a:rPr sz="1600" b="0" dirty="0">
                <a:solidFill>
                  <a:srgbClr val="FFFFFF"/>
                </a:solidFill>
              </a:rPr>
              <a:t> sexual, </a:t>
            </a:r>
            <a:r>
              <a:rPr sz="1600" b="0" dirty="0" err="1">
                <a:solidFill>
                  <a:srgbClr val="FFFFFF"/>
                </a:solidFill>
              </a:rPr>
              <a:t>rompiendo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tabúes</a:t>
            </a:r>
            <a:r>
              <a:rPr sz="1600" b="0" dirty="0">
                <a:solidFill>
                  <a:srgbClr val="FFFFFF"/>
                </a:solidFill>
              </a:rPr>
              <a:t> y </a:t>
            </a:r>
            <a:r>
              <a:rPr sz="1600" b="0" dirty="0" err="1">
                <a:solidFill>
                  <a:srgbClr val="FFFFFF"/>
                </a:solidFill>
              </a:rPr>
              <a:t>proporcionando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información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verificada</a:t>
            </a:r>
            <a:r>
              <a:rPr sz="1600" b="0" dirty="0">
                <a:solidFill>
                  <a:srgbClr val="FFFFFF"/>
                </a:solidFill>
              </a:rPr>
              <a:t> de </a:t>
            </a:r>
            <a:r>
              <a:rPr sz="1600" b="0" dirty="0" err="1">
                <a:solidFill>
                  <a:srgbClr val="FFFFFF"/>
                </a:solidFill>
              </a:rPr>
              <a:t>manera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A5D6FF"/>
                </a:solidFill>
              </a:rPr>
              <a:t>accesible</a:t>
            </a:r>
            <a:r>
              <a:rPr sz="1600" b="1" dirty="0">
                <a:solidFill>
                  <a:srgbClr val="A5D6FF"/>
                </a:solidFill>
              </a:rPr>
              <a:t> y sin </a:t>
            </a:r>
            <a:r>
              <a:rPr sz="1600" b="1" dirty="0" err="1">
                <a:solidFill>
                  <a:srgbClr val="A5D6FF"/>
                </a:solidFill>
              </a:rPr>
              <a:t>juicios</a:t>
            </a:r>
            <a:r>
              <a:rPr sz="1600" b="0" dirty="0">
                <a:solidFill>
                  <a:srgbClr val="FFFFFF"/>
                </a:solidFill>
              </a:rPr>
              <a:t>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106181"/>
            <a:ext cx="3260701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1600" dirty="0"/>
              <a:t>  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lang="es-MX" sz="2400" b="1" dirty="0">
                <a:solidFill>
                  <a:srgbClr val="FFFFFF"/>
                </a:solidFill>
              </a:rPr>
              <a:t>  </a:t>
            </a:r>
            <a:r>
              <a:rPr sz="2400" b="1" dirty="0" err="1">
                <a:solidFill>
                  <a:srgbClr val="FFFFFF"/>
                </a:solidFill>
              </a:rPr>
              <a:t>Objetivos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Específicos</a:t>
            </a:r>
            <a:r>
              <a:rPr sz="2400" b="1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217292"/>
            <a:ext cx="304792" cy="25790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6733" y="3660570"/>
            <a:ext cx="3162220" cy="1409699"/>
          </a:xfrm>
          <a:prstGeom prst="roundRect">
            <a:avLst>
              <a:gd name="adj" fmla="val 21621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53" y="3881357"/>
            <a:ext cx="384398" cy="300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6317" y="3898240"/>
            <a:ext cx="2485963" cy="93435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FFFFFF"/>
                </a:solidFill>
              </a:rPr>
              <a:t>Suplir </a:t>
            </a:r>
            <a:r>
              <a:rPr b="1" dirty="0" err="1">
                <a:solidFill>
                  <a:srgbClr val="FFFFFF"/>
                </a:solidFill>
              </a:rPr>
              <a:t>Vacíos</a:t>
            </a:r>
            <a:r>
              <a:rPr b="1" dirty="0">
                <a:solidFill>
                  <a:srgbClr val="FFFFFF"/>
                </a:solidFill>
              </a:rPr>
              <a:t> </a:t>
            </a:r>
            <a:r>
              <a:rPr b="1" dirty="0" err="1">
                <a:solidFill>
                  <a:srgbClr val="FFFFFF"/>
                </a:solidFill>
              </a:rPr>
              <a:t>Educativos</a:t>
            </a:r>
            <a:endParaRPr lang="es-MX" b="1" dirty="0">
              <a:solidFill>
                <a:srgbClr val="FFFFFF"/>
              </a:solidFill>
            </a:endParaRPr>
          </a:p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</a:rPr>
              <a:t>Ofrecer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educación</a:t>
            </a:r>
            <a:r>
              <a:rPr sz="1600" b="0" dirty="0">
                <a:solidFill>
                  <a:srgbClr val="FFFFFF"/>
                </a:solidFill>
              </a:rPr>
              <a:t> sexual </a:t>
            </a:r>
            <a:r>
              <a:rPr sz="1600" b="0" dirty="0" err="1">
                <a:solidFill>
                  <a:srgbClr val="FFFFFF"/>
                </a:solidFill>
              </a:rPr>
              <a:t>básica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que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muchas</a:t>
            </a:r>
            <a:r>
              <a:rPr sz="1600" b="0" dirty="0">
                <a:solidFill>
                  <a:srgbClr val="FFFFFF"/>
                </a:solidFill>
              </a:rPr>
              <a:t> personas </a:t>
            </a:r>
            <a:r>
              <a:rPr sz="1600" b="0" dirty="0" err="1">
                <a:solidFill>
                  <a:srgbClr val="FFFFFF"/>
                </a:solidFill>
              </a:rPr>
              <a:t>nunca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recibieron</a:t>
            </a:r>
            <a:r>
              <a:rPr sz="1600" b="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2300" y="3660570"/>
            <a:ext cx="3162220" cy="1409699"/>
          </a:xfrm>
          <a:prstGeom prst="roundRect">
            <a:avLst>
              <a:gd name="adj" fmla="val 21621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1845" y="3824634"/>
            <a:ext cx="333043" cy="2823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1885" y="3795648"/>
            <a:ext cx="2352616" cy="113954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FFFFFF"/>
                </a:solidFill>
              </a:rPr>
              <a:t>Lenguaje</a:t>
            </a:r>
            <a:r>
              <a:rPr b="1" dirty="0">
                <a:solidFill>
                  <a:srgbClr val="FFFFFF"/>
                </a:solidFill>
              </a:rPr>
              <a:t> </a:t>
            </a:r>
            <a:r>
              <a:rPr b="1" dirty="0" err="1">
                <a:solidFill>
                  <a:srgbClr val="FFFFFF"/>
                </a:solidFill>
              </a:rPr>
              <a:t>Inclusivo</a:t>
            </a:r>
            <a:endParaRPr lang="es-MX" b="1" dirty="0">
              <a:solidFill>
                <a:srgbClr val="FFFFFF"/>
              </a:solidFill>
            </a:endParaRPr>
          </a:p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</a:rPr>
              <a:t>Utilizar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terminología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accesible</a:t>
            </a:r>
            <a:r>
              <a:rPr sz="1600" b="0" dirty="0">
                <a:solidFill>
                  <a:srgbClr val="FFFFFF"/>
                </a:solidFill>
              </a:rPr>
              <a:t> para </a:t>
            </a:r>
            <a:r>
              <a:rPr sz="1600" b="0" dirty="0" err="1">
                <a:solidFill>
                  <a:srgbClr val="FFFFFF"/>
                </a:solidFill>
              </a:rPr>
              <a:t>todas</a:t>
            </a:r>
            <a:r>
              <a:rPr sz="1600" b="0" dirty="0">
                <a:solidFill>
                  <a:srgbClr val="FFFFFF"/>
                </a:solidFill>
              </a:rPr>
              <a:t> las </a:t>
            </a:r>
            <a:r>
              <a:rPr sz="1600" b="0" dirty="0" err="1">
                <a:solidFill>
                  <a:srgbClr val="FFFFFF"/>
                </a:solidFill>
              </a:rPr>
              <a:t>edades</a:t>
            </a:r>
            <a:r>
              <a:rPr sz="1600" b="0" dirty="0">
                <a:solidFill>
                  <a:srgbClr val="FFFFFF"/>
                </a:solidFill>
              </a:rPr>
              <a:t> y </a:t>
            </a:r>
            <a:r>
              <a:rPr sz="1600" b="0" dirty="0" err="1">
                <a:solidFill>
                  <a:srgbClr val="FFFFFF"/>
                </a:solidFill>
              </a:rPr>
              <a:t>niveles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educativos</a:t>
            </a:r>
            <a:r>
              <a:rPr sz="1600" b="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5213146"/>
            <a:ext cx="3162220" cy="1409699"/>
          </a:xfrm>
          <a:prstGeom prst="roundRect">
            <a:avLst>
              <a:gd name="adj" fmla="val 21621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753" y="5428023"/>
            <a:ext cx="384398" cy="32591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51151" y="5492556"/>
            <a:ext cx="2352616" cy="93153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FFFFFF"/>
                </a:solidFill>
              </a:rPr>
              <a:t>Desmitificación</a:t>
            </a:r>
            <a:r>
              <a:rPr b="1" dirty="0">
                <a:solidFill>
                  <a:srgbClr val="FFFFFF"/>
                </a:solidFill>
              </a:rPr>
              <a:t> Activa</a:t>
            </a:r>
            <a:r>
              <a:rPr b="0" dirty="0">
                <a:solidFill>
                  <a:srgbClr val="FFFFFF"/>
                </a:solidFill>
              </a:rPr>
              <a:t> </a:t>
            </a:r>
            <a:endParaRPr lang="es-MX" b="0" dirty="0">
              <a:solidFill>
                <a:srgbClr val="FFFFFF"/>
              </a:solidFill>
            </a:endParaRPr>
          </a:p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</a:rPr>
              <a:t>Combatir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creencias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erróneas</a:t>
            </a:r>
            <a:r>
              <a:rPr sz="1600" b="0" dirty="0">
                <a:solidFill>
                  <a:srgbClr val="FFFFFF"/>
                </a:solidFill>
              </a:rPr>
              <a:t> con </a:t>
            </a:r>
            <a:r>
              <a:rPr sz="1600" b="0" dirty="0" err="1">
                <a:solidFill>
                  <a:srgbClr val="FFFFFF"/>
                </a:solidFill>
              </a:rPr>
              <a:t>información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médica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verificada</a:t>
            </a:r>
            <a:r>
              <a:rPr sz="1600" b="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2300" y="5213146"/>
            <a:ext cx="3162220" cy="1409699"/>
          </a:xfrm>
          <a:prstGeom prst="roundRect">
            <a:avLst>
              <a:gd name="adj" fmla="val 21621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71845" y="5359843"/>
            <a:ext cx="333043" cy="31133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1885" y="5348224"/>
            <a:ext cx="2352616" cy="113954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FFFFFF"/>
                </a:solidFill>
              </a:rPr>
              <a:t>Espacio Seguro</a:t>
            </a:r>
            <a:r>
              <a:rPr b="0" dirty="0">
                <a:solidFill>
                  <a:srgbClr val="FFFFFF"/>
                </a:solidFill>
              </a:rPr>
              <a:t> </a:t>
            </a:r>
            <a:endParaRPr lang="es-MX" b="0" dirty="0">
              <a:solidFill>
                <a:srgbClr val="FFFFFF"/>
              </a:solidFill>
            </a:endParaRPr>
          </a:p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FFFFFF"/>
                </a:solidFill>
              </a:rPr>
              <a:t>Crear un </a:t>
            </a:r>
            <a:r>
              <a:rPr sz="1600" b="0" dirty="0" err="1">
                <a:solidFill>
                  <a:srgbClr val="FFFFFF"/>
                </a:solidFill>
              </a:rPr>
              <a:t>ambiente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donde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usuarios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puedan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aprender</a:t>
            </a:r>
            <a:r>
              <a:rPr sz="1600" b="0" dirty="0">
                <a:solidFill>
                  <a:srgbClr val="FFFFFF"/>
                </a:solidFill>
              </a:rPr>
              <a:t> sin </a:t>
            </a:r>
            <a:r>
              <a:rPr sz="1600" b="0" dirty="0" err="1">
                <a:solidFill>
                  <a:srgbClr val="FFFFFF"/>
                </a:solidFill>
              </a:rPr>
              <a:t>vergüenza</a:t>
            </a:r>
            <a:r>
              <a:rPr sz="1600" b="0" dirty="0">
                <a:solidFill>
                  <a:srgbClr val="FFFFFF"/>
                </a:solidFill>
              </a:rPr>
              <a:t> o </a:t>
            </a:r>
            <a:r>
              <a:rPr sz="1600" b="0" dirty="0" err="1">
                <a:solidFill>
                  <a:srgbClr val="FFFFFF"/>
                </a:solidFill>
              </a:rPr>
              <a:t>miedo</a:t>
            </a:r>
            <a:r>
              <a:rPr sz="1600" b="0" dirty="0">
                <a:solidFill>
                  <a:srgbClr val="FFFFFF"/>
                </a:solidFill>
              </a:rPr>
              <a:t> al </a:t>
            </a:r>
            <a:r>
              <a:rPr sz="1600" b="0" dirty="0" err="1">
                <a:solidFill>
                  <a:srgbClr val="FFFFFF"/>
                </a:solidFill>
              </a:rPr>
              <a:t>juicio</a:t>
            </a:r>
            <a:r>
              <a:rPr sz="1600" b="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5037" y="2063692"/>
            <a:ext cx="4204383" cy="3898957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15037" y="5345479"/>
            <a:ext cx="4204383" cy="617172"/>
          </a:xfrm>
          <a:prstGeom prst="rect">
            <a:avLst/>
          </a:prstGeom>
          <a:gradFill rotWithShape="1">
            <a:gsLst>
              <a:gs pos="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15037" y="5515886"/>
            <a:ext cx="4204383" cy="27635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Educación sexual accesible para todos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9629B">
                <a:alpha val="95000"/>
              </a:srgbClr>
            </a:gs>
            <a:gs pos="100000">
              <a:srgbClr val="5E35B1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27003"/>
            <a:ext cx="5795946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</a:rPr>
              <a:t>Desarrollo: Sistema y </a:t>
            </a:r>
            <a:r>
              <a:rPr sz="3200" b="1" dirty="0" err="1">
                <a:solidFill>
                  <a:srgbClr val="FFFFFF"/>
                </a:solidFill>
              </a:rPr>
              <a:t>Navegación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5856" y="878659"/>
            <a:ext cx="2082943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000" b="1" dirty="0">
                <a:solidFill>
                  <a:srgbClr val="FFFFFF"/>
                </a:solidFill>
              </a:rPr>
              <a:t> </a:t>
            </a:r>
            <a:r>
              <a:rPr sz="1400" dirty="0"/>
              <a:t>  </a:t>
            </a:r>
            <a:r>
              <a:rPr sz="2000" b="1" dirty="0">
                <a:solidFill>
                  <a:srgbClr val="FFFFFF"/>
                </a:solidFill>
              </a:rPr>
              <a:t> Tipo de Sistema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979508"/>
            <a:ext cx="304792" cy="2168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402273"/>
            <a:ext cx="5848203" cy="1219069"/>
          </a:xfrm>
          <a:prstGeom prst="roundRect">
            <a:avLst>
              <a:gd name="adj" fmla="val 18604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7424" y="1429466"/>
            <a:ext cx="5533190" cy="11199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</a:rPr>
              <a:t>El </a:t>
            </a:r>
            <a:r>
              <a:rPr sz="1400" b="0" dirty="0" err="1">
                <a:solidFill>
                  <a:srgbClr val="FFFFFF"/>
                </a:solidFill>
              </a:rPr>
              <a:t>sistema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diseñado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corresponde</a:t>
            </a:r>
            <a:r>
              <a:rPr sz="1400" b="0" dirty="0">
                <a:solidFill>
                  <a:srgbClr val="FFFFFF"/>
                </a:solidFill>
              </a:rPr>
              <a:t> a un </a:t>
            </a:r>
            <a:r>
              <a:rPr sz="1400" b="1" dirty="0">
                <a:solidFill>
                  <a:srgbClr val="A5D6FF"/>
                </a:solidFill>
              </a:rPr>
              <a:t>sitio web </a:t>
            </a:r>
            <a:r>
              <a:rPr sz="1400" b="1" dirty="0" err="1">
                <a:solidFill>
                  <a:srgbClr val="A5D6FF"/>
                </a:solidFill>
              </a:rPr>
              <a:t>educativo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sobre</a:t>
            </a:r>
            <a:r>
              <a:rPr sz="1400" b="0" dirty="0">
                <a:solidFill>
                  <a:srgbClr val="FFFFFF"/>
                </a:solidFill>
              </a:rPr>
              <a:t> ETS. Su </a:t>
            </a:r>
            <a:r>
              <a:rPr sz="1400" b="0" dirty="0" err="1">
                <a:solidFill>
                  <a:srgbClr val="FFFFFF"/>
                </a:solidFill>
              </a:rPr>
              <a:t>objetivo</a:t>
            </a:r>
            <a:r>
              <a:rPr sz="1400" b="0" dirty="0">
                <a:solidFill>
                  <a:srgbClr val="FFFFFF"/>
                </a:solidFill>
              </a:rPr>
              <a:t> es </a:t>
            </a:r>
            <a:r>
              <a:rPr sz="1400" b="0" dirty="0" err="1">
                <a:solidFill>
                  <a:srgbClr val="FFFFFF"/>
                </a:solidFill>
              </a:rPr>
              <a:t>poner</a:t>
            </a:r>
            <a:r>
              <a:rPr sz="1400" b="0" dirty="0">
                <a:solidFill>
                  <a:srgbClr val="FFFFFF"/>
                </a:solidFill>
              </a:rPr>
              <a:t> a </a:t>
            </a:r>
            <a:r>
              <a:rPr sz="1400" b="0" dirty="0" err="1">
                <a:solidFill>
                  <a:srgbClr val="FFFFFF"/>
                </a:solidFill>
              </a:rPr>
              <a:t>disposición</a:t>
            </a:r>
            <a:r>
              <a:rPr sz="1400" b="0" dirty="0">
                <a:solidFill>
                  <a:srgbClr val="FFFFFF"/>
                </a:solidFill>
              </a:rPr>
              <a:t> del </a:t>
            </a:r>
            <a:r>
              <a:rPr sz="1400" b="0" dirty="0" err="1">
                <a:solidFill>
                  <a:srgbClr val="FFFFFF"/>
                </a:solidFill>
              </a:rPr>
              <a:t>usuario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información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A5D6FF"/>
                </a:solidFill>
              </a:rPr>
              <a:t>clara</a:t>
            </a:r>
            <a:r>
              <a:rPr sz="1400" b="1" dirty="0">
                <a:solidFill>
                  <a:srgbClr val="A5D6FF"/>
                </a:solidFill>
              </a:rPr>
              <a:t>, </a:t>
            </a:r>
            <a:r>
              <a:rPr sz="1400" b="1" dirty="0" err="1">
                <a:solidFill>
                  <a:srgbClr val="A5D6FF"/>
                </a:solidFill>
              </a:rPr>
              <a:t>actualizada</a:t>
            </a:r>
            <a:r>
              <a:rPr sz="1400" b="1" dirty="0">
                <a:solidFill>
                  <a:srgbClr val="A5D6FF"/>
                </a:solidFill>
              </a:rPr>
              <a:t> y </a:t>
            </a:r>
            <a:r>
              <a:rPr sz="1400" b="1" dirty="0" err="1">
                <a:solidFill>
                  <a:srgbClr val="A5D6FF"/>
                </a:solidFill>
              </a:rPr>
              <a:t>confiable</a:t>
            </a:r>
            <a:r>
              <a:rPr sz="1400" b="0" dirty="0">
                <a:solidFill>
                  <a:srgbClr val="FFFFFF"/>
                </a:solidFill>
              </a:rPr>
              <a:t>, </a:t>
            </a:r>
            <a:r>
              <a:rPr sz="1400" b="0" dirty="0" err="1">
                <a:solidFill>
                  <a:srgbClr val="FFFFFF"/>
                </a:solidFill>
              </a:rPr>
              <a:t>acompañada</a:t>
            </a:r>
            <a:r>
              <a:rPr sz="1400" b="0" dirty="0">
                <a:solidFill>
                  <a:srgbClr val="FFFFFF"/>
                </a:solidFill>
              </a:rPr>
              <a:t> de </a:t>
            </a:r>
            <a:r>
              <a:rPr sz="1400" b="0" dirty="0" err="1">
                <a:solidFill>
                  <a:srgbClr val="FFFFFF"/>
                </a:solidFill>
              </a:rPr>
              <a:t>herramientas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digitales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que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fomenten</a:t>
            </a:r>
            <a:r>
              <a:rPr sz="1400" b="0" dirty="0">
                <a:solidFill>
                  <a:srgbClr val="FFFFFF"/>
                </a:solidFill>
              </a:rPr>
              <a:t> la </a:t>
            </a:r>
            <a:r>
              <a:rPr sz="1400" b="0" dirty="0" err="1">
                <a:solidFill>
                  <a:srgbClr val="FFFFFF"/>
                </a:solidFill>
              </a:rPr>
              <a:t>prevención</a:t>
            </a:r>
            <a:r>
              <a:rPr sz="1400" b="0" dirty="0">
                <a:solidFill>
                  <a:srgbClr val="FFFFFF"/>
                </a:solidFill>
              </a:rPr>
              <a:t> y la </a:t>
            </a:r>
            <a:r>
              <a:rPr sz="1400" b="0" dirty="0" err="1">
                <a:solidFill>
                  <a:srgbClr val="FFFFFF"/>
                </a:solidFill>
              </a:rPr>
              <a:t>detección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temprana</a:t>
            </a:r>
            <a:r>
              <a:rPr sz="1400" b="0" dirty="0">
                <a:solidFill>
                  <a:srgbClr val="FFFFFF"/>
                </a:solidFill>
              </a:rPr>
              <a:t>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80" y="2732941"/>
            <a:ext cx="2257368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 dirty="0">
                <a:solidFill>
                  <a:srgbClr val="FFFFFF"/>
                </a:solidFill>
              </a:rPr>
              <a:t> </a:t>
            </a:r>
            <a:r>
              <a:rPr sz="1104" dirty="0"/>
              <a:t>  </a:t>
            </a:r>
            <a:r>
              <a:rPr sz="1674" b="1" dirty="0">
                <a:solidFill>
                  <a:srgbClr val="FFFFFF"/>
                </a:solidFill>
              </a:rPr>
              <a:t> Mapa de </a:t>
            </a:r>
            <a:r>
              <a:rPr sz="1674" b="1" dirty="0" err="1">
                <a:solidFill>
                  <a:srgbClr val="FFFFFF"/>
                </a:solidFill>
              </a:rPr>
              <a:t>Navegación</a:t>
            </a:r>
            <a:r>
              <a:rPr sz="1674" b="1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2791686"/>
            <a:ext cx="304792" cy="23446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604" y="3144571"/>
            <a:ext cx="5848203" cy="3620262"/>
          </a:xfrm>
          <a:prstGeom prst="roundRect">
            <a:avLst>
              <a:gd name="adj" fmla="val 7256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71525" y="3195774"/>
            <a:ext cx="3397020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400" dirty="0"/>
              <a:t>  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Estructura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Jerárquica</a:t>
            </a:r>
            <a:r>
              <a:rPr sz="1600" b="1" dirty="0">
                <a:solidFill>
                  <a:srgbClr val="FFFFFF"/>
                </a:solidFill>
              </a:rPr>
              <a:t> y </a:t>
            </a:r>
            <a:r>
              <a:rPr sz="1600" b="1" dirty="0" err="1">
                <a:solidFill>
                  <a:srgbClr val="FFFFFF"/>
                </a:solidFill>
              </a:rPr>
              <a:t>Centralizada</a:t>
            </a:r>
            <a:r>
              <a:rPr sz="1600" b="1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6249" y="3300240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7698" y="3474331"/>
            <a:ext cx="5352916" cy="61375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</a:rPr>
              <a:t>El </a:t>
            </a:r>
            <a:r>
              <a:rPr sz="1400" b="0" dirty="0" err="1">
                <a:solidFill>
                  <a:srgbClr val="FFFFFF"/>
                </a:solidFill>
              </a:rPr>
              <a:t>mapa</a:t>
            </a:r>
            <a:r>
              <a:rPr sz="1400" b="0" dirty="0">
                <a:solidFill>
                  <a:srgbClr val="FFFFFF"/>
                </a:solidFill>
              </a:rPr>
              <a:t> de </a:t>
            </a:r>
            <a:r>
              <a:rPr sz="1400" b="0" dirty="0" err="1">
                <a:solidFill>
                  <a:srgbClr val="FFFFFF"/>
                </a:solidFill>
              </a:rPr>
              <a:t>navegación</a:t>
            </a:r>
            <a:r>
              <a:rPr sz="1400" b="0" dirty="0">
                <a:solidFill>
                  <a:srgbClr val="FFFFFF"/>
                </a:solidFill>
              </a:rPr>
              <a:t> se </a:t>
            </a:r>
            <a:r>
              <a:rPr sz="1400" b="0" dirty="0" err="1">
                <a:solidFill>
                  <a:srgbClr val="FFFFFF"/>
                </a:solidFill>
              </a:rPr>
              <a:t>diseñó</a:t>
            </a:r>
            <a:r>
              <a:rPr sz="1400" b="0" dirty="0">
                <a:solidFill>
                  <a:srgbClr val="FFFFFF"/>
                </a:solidFill>
              </a:rPr>
              <a:t> para </a:t>
            </a:r>
            <a:r>
              <a:rPr sz="1400" b="0" dirty="0" err="1">
                <a:solidFill>
                  <a:srgbClr val="FFFFFF"/>
                </a:solidFill>
              </a:rPr>
              <a:t>garantizar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acceso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rápido</a:t>
            </a:r>
            <a:r>
              <a:rPr sz="1400" b="0" dirty="0">
                <a:solidFill>
                  <a:srgbClr val="FFFFFF"/>
                </a:solidFill>
              </a:rPr>
              <a:t> a </a:t>
            </a:r>
            <a:r>
              <a:rPr sz="1400" b="0" dirty="0" err="1">
                <a:solidFill>
                  <a:srgbClr val="FFFFFF"/>
                </a:solidFill>
              </a:rPr>
              <a:t>toda</a:t>
            </a:r>
            <a:r>
              <a:rPr sz="1400" b="0" dirty="0">
                <a:solidFill>
                  <a:srgbClr val="FFFFFF"/>
                </a:solidFill>
              </a:rPr>
              <a:t> la </a:t>
            </a:r>
            <a:r>
              <a:rPr sz="1400" b="0" dirty="0" err="1">
                <a:solidFill>
                  <a:srgbClr val="FFFFFF"/>
                </a:solidFill>
              </a:rPr>
              <a:t>información</a:t>
            </a:r>
            <a:r>
              <a:rPr sz="1400" b="0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" y="4180910"/>
            <a:ext cx="5352916" cy="1821759"/>
          </a:xfrm>
          <a:prstGeom prst="roundRect">
            <a:avLst>
              <a:gd name="adj" fmla="val 1206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4871" y="4288582"/>
            <a:ext cx="336285" cy="2522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76338" y="4246637"/>
            <a:ext cx="2143472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FFFFFF"/>
                </a:solidFill>
              </a:rPr>
              <a:t>Inicio</a:t>
            </a:r>
            <a:r>
              <a:rPr sz="1600" b="1" dirty="0">
                <a:solidFill>
                  <a:srgbClr val="FFFFFF"/>
                </a:solidFill>
              </a:rPr>
              <a:t> (</a:t>
            </a:r>
            <a:r>
              <a:rPr sz="1600" b="1" dirty="0" err="1">
                <a:solidFill>
                  <a:srgbClr val="FFFFFF"/>
                </a:solidFill>
              </a:rPr>
              <a:t>página</a:t>
            </a:r>
            <a:r>
              <a:rPr sz="1600" b="1" dirty="0">
                <a:solidFill>
                  <a:srgbClr val="FFFFFF"/>
                </a:solidFill>
              </a:rPr>
              <a:t> principal)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76338" y="4670307"/>
            <a:ext cx="2257368" cy="628650"/>
          </a:xfrm>
          <a:prstGeom prst="roundRect">
            <a:avLst>
              <a:gd name="adj" fmla="val 2424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88363" y="4872481"/>
            <a:ext cx="285743" cy="2437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57328" y="4816749"/>
            <a:ext cx="161416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</a:rPr>
              <a:t>Información</a:t>
            </a:r>
            <a:r>
              <a:rPr sz="1400" b="0" dirty="0">
                <a:solidFill>
                  <a:srgbClr val="FFFFFF"/>
                </a:solidFill>
              </a:rPr>
              <a:t> general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28954" y="4670307"/>
            <a:ext cx="2267046" cy="628650"/>
          </a:xfrm>
          <a:prstGeom prst="roundRect">
            <a:avLst>
              <a:gd name="adj" fmla="val 2424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49368" y="4867084"/>
            <a:ext cx="270874" cy="25893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15420" y="4713788"/>
            <a:ext cx="1996737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</a:rPr>
              <a:t>Herramientas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interactivas</a:t>
            </a:r>
            <a:endParaRPr sz="1400" b="0" dirty="0">
              <a:solidFill>
                <a:srgbClr val="FFFFFF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476338" y="5394206"/>
            <a:ext cx="2257368" cy="409574"/>
          </a:xfrm>
          <a:prstGeom prst="roundRect">
            <a:avLst>
              <a:gd name="adj" fmla="val 3720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88363" y="5485236"/>
            <a:ext cx="272208" cy="23218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57328" y="5427485"/>
            <a:ext cx="1502334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</a:rPr>
              <a:t>Recursos</a:t>
            </a:r>
            <a:r>
              <a:rPr sz="1400" b="0" dirty="0">
                <a:solidFill>
                  <a:srgbClr val="FFFFFF"/>
                </a:solidFill>
              </a:rPr>
              <a:t> de </a:t>
            </a:r>
            <a:r>
              <a:rPr sz="1400" b="0" dirty="0" err="1">
                <a:solidFill>
                  <a:srgbClr val="FFFFFF"/>
                </a:solidFill>
              </a:rPr>
              <a:t>ayuda</a:t>
            </a:r>
            <a:endParaRPr sz="1400" b="0" dirty="0">
              <a:solidFill>
                <a:srgbClr val="FFFFFF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828954" y="5394206"/>
            <a:ext cx="2257368" cy="409574"/>
          </a:xfrm>
          <a:prstGeom prst="roundRect">
            <a:avLst>
              <a:gd name="adj" fmla="val 3720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40979" y="5504036"/>
            <a:ext cx="272208" cy="21617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209944" y="5427485"/>
            <a:ext cx="1202509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</a:rPr>
              <a:t>Blog / Noticias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377" y="6159615"/>
            <a:ext cx="5352916" cy="447675"/>
          </a:xfrm>
          <a:prstGeom prst="roundRect">
            <a:avLst>
              <a:gd name="adj" fmla="val 3404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00620" y="6186772"/>
            <a:ext cx="3857018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600" dirty="0"/>
              <a:t>  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Acceso</a:t>
            </a:r>
            <a:r>
              <a:rPr sz="1400" b="1" dirty="0">
                <a:solidFill>
                  <a:srgbClr val="FFFFFF"/>
                </a:solidFill>
              </a:rPr>
              <a:t> a </a:t>
            </a:r>
            <a:r>
              <a:rPr sz="1400" b="1" dirty="0" err="1">
                <a:solidFill>
                  <a:srgbClr val="FFFFFF"/>
                </a:solidFill>
              </a:rPr>
              <a:t>cualquier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sección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en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máximo</a:t>
            </a:r>
            <a:r>
              <a:rPr sz="1400" b="1" dirty="0">
                <a:solidFill>
                  <a:srgbClr val="FFFFFF"/>
                </a:solidFill>
              </a:rPr>
              <a:t> dos </a:t>
            </a:r>
            <a:r>
              <a:rPr sz="1400" b="1" dirty="0" err="1">
                <a:solidFill>
                  <a:srgbClr val="FFFFFF"/>
                </a:solidFill>
              </a:rPr>
              <a:t>clics</a:t>
            </a:r>
            <a:r>
              <a:rPr sz="1400" b="1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28674" y="6306972"/>
            <a:ext cx="190495" cy="162485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050768" y="2178164"/>
            <a:ext cx="4609984" cy="3790949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050768" y="5378565"/>
            <a:ext cx="4609984" cy="600075"/>
          </a:xfrm>
          <a:prstGeom prst="rect">
            <a:avLst/>
          </a:prstGeom>
          <a:gradFill rotWithShape="1">
            <a:gsLst>
              <a:gs pos="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50768" y="5378565"/>
            <a:ext cx="4609984" cy="6000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Diseño responsivo para todos los dispositivos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E35B1">
                <a:alpha val="95000"/>
              </a:srgbClr>
            </a:gs>
            <a:gs pos="100000">
              <a:srgbClr val="29629B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27003"/>
            <a:ext cx="5634619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</a:rPr>
              <a:t>Desarrollo: </a:t>
            </a:r>
            <a:r>
              <a:rPr sz="3200" b="1" dirty="0" err="1">
                <a:solidFill>
                  <a:srgbClr val="FFFFFF"/>
                </a:solidFill>
              </a:rPr>
              <a:t>Evolución</a:t>
            </a:r>
            <a:r>
              <a:rPr sz="3200" b="1" dirty="0">
                <a:solidFill>
                  <a:srgbClr val="FFFFFF"/>
                </a:solidFill>
              </a:rPr>
              <a:t> del </a:t>
            </a:r>
            <a:r>
              <a:rPr sz="3200" b="1" dirty="0" err="1">
                <a:solidFill>
                  <a:srgbClr val="FFFFFF"/>
                </a:solidFill>
              </a:rPr>
              <a:t>Diseño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6733" y="1047749"/>
            <a:ext cx="3457488" cy="5619750"/>
          </a:xfrm>
          <a:prstGeom prst="roundRect">
            <a:avLst>
              <a:gd name="adj" fmla="val 8815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724181" y="1200150"/>
            <a:ext cx="247643" cy="2476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32570" y="1176243"/>
            <a:ext cx="226280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129" y="1200150"/>
            <a:ext cx="428614" cy="428625"/>
          </a:xfrm>
          <a:prstGeom prst="roundRect">
            <a:avLst>
              <a:gd name="adj" fmla="val 50000"/>
            </a:avLst>
          </a:prstGeom>
          <a:solidFill>
            <a:srgbClr val="FFCC8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4377" y="13211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2040" y="1174397"/>
            <a:ext cx="982770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</a:rPr>
              <a:t>Sketch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30" y="1895743"/>
            <a:ext cx="3081752" cy="4566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975"/>
              </a:spcAft>
            </a:pPr>
            <a:r>
              <a:rPr sz="1600" b="0" dirty="0">
                <a:solidFill>
                  <a:srgbClr val="FFFFFF"/>
                </a:solidFill>
              </a:rPr>
              <a:t>Primera </a:t>
            </a:r>
            <a:r>
              <a:rPr sz="1600" b="0" dirty="0" err="1">
                <a:solidFill>
                  <a:srgbClr val="FFFFFF"/>
                </a:solidFill>
              </a:rPr>
              <a:t>aproximación</a:t>
            </a:r>
            <a:r>
              <a:rPr sz="1600" b="0" dirty="0">
                <a:solidFill>
                  <a:srgbClr val="FFFFFF"/>
                </a:solidFill>
              </a:rPr>
              <a:t> al </a:t>
            </a:r>
            <a:r>
              <a:rPr sz="1600" b="0" dirty="0" err="1">
                <a:solidFill>
                  <a:srgbClr val="FFFFFF"/>
                </a:solidFill>
              </a:rPr>
              <a:t>diseño</a:t>
            </a:r>
            <a:r>
              <a:rPr sz="1600" b="0" dirty="0">
                <a:solidFill>
                  <a:srgbClr val="FFFFFF"/>
                </a:solidFill>
              </a:rPr>
              <a:t>, </a:t>
            </a:r>
            <a:r>
              <a:rPr sz="1600" b="0" dirty="0" err="1">
                <a:solidFill>
                  <a:srgbClr val="FFFFFF"/>
                </a:solidFill>
              </a:rPr>
              <a:t>realizada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en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papel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cuadriculado</a:t>
            </a:r>
            <a:r>
              <a:rPr sz="1600" b="0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2539730"/>
            <a:ext cx="171445" cy="149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6773" y="2451274"/>
            <a:ext cx="2269083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A5D6FF"/>
                </a:solidFill>
              </a:rPr>
              <a:t>Clarificación</a:t>
            </a:r>
            <a:r>
              <a:rPr sz="1400" b="0" dirty="0">
                <a:solidFill>
                  <a:srgbClr val="FFFFFF"/>
                </a:solidFill>
              </a:rPr>
              <a:t> de la idea </a:t>
            </a:r>
            <a:r>
              <a:rPr sz="1400" b="0" dirty="0" err="1">
                <a:solidFill>
                  <a:srgbClr val="FFFFFF"/>
                </a:solidFill>
              </a:rPr>
              <a:t>inicial</a:t>
            </a:r>
            <a:endParaRPr sz="1400" b="0" dirty="0">
              <a:solidFill>
                <a:srgbClr val="FFFFFF"/>
              </a:solidFill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2804158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6773" y="2715703"/>
            <a:ext cx="2791533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</a:rPr>
              <a:t>Distribución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preliminar</a:t>
            </a:r>
            <a:r>
              <a:rPr sz="1400" b="0" dirty="0">
                <a:solidFill>
                  <a:srgbClr val="FFFFFF"/>
                </a:solidFill>
              </a:rPr>
              <a:t> de </a:t>
            </a:r>
            <a:r>
              <a:rPr sz="1400" b="0" dirty="0" err="1">
                <a:solidFill>
                  <a:srgbClr val="FFFFFF"/>
                </a:solidFill>
              </a:rPr>
              <a:t>secciones</a:t>
            </a:r>
            <a:endParaRPr sz="1400" b="0" dirty="0">
              <a:solidFill>
                <a:srgbClr val="FFFFFF"/>
              </a:solidFill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3068586"/>
            <a:ext cx="171445" cy="1493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6773" y="2980131"/>
            <a:ext cx="2439579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</a:rPr>
              <a:t>Visualización de la organización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129" y="3371850"/>
            <a:ext cx="3152696" cy="3143250"/>
          </a:xfrm>
          <a:prstGeom prst="roundRect">
            <a:avLst>
              <a:gd name="adj" fmla="val 727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8654" y="3381375"/>
            <a:ext cx="3133646" cy="31242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62340" y="1047749"/>
            <a:ext cx="3457488" cy="5619750"/>
          </a:xfrm>
          <a:prstGeom prst="roundRect">
            <a:avLst>
              <a:gd name="adj" fmla="val 8815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9314" y="1200150"/>
            <a:ext cx="247643" cy="2476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46092" y="1176243"/>
            <a:ext cx="226280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14737" y="1200150"/>
            <a:ext cx="428614" cy="428625"/>
          </a:xfrm>
          <a:prstGeom prst="roundRect">
            <a:avLst>
              <a:gd name="adj" fmla="val 50000"/>
            </a:avLst>
          </a:prstGeom>
          <a:solidFill>
            <a:srgbClr val="A5D6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9509" y="1312545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57648" y="1174397"/>
            <a:ext cx="1518685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</a:rPr>
              <a:t>Wireframe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4737" y="1895743"/>
            <a:ext cx="3162220" cy="4566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975"/>
              </a:spcAft>
            </a:pPr>
            <a:r>
              <a:rPr sz="1600" b="0" dirty="0" err="1">
                <a:solidFill>
                  <a:srgbClr val="FFFFFF"/>
                </a:solidFill>
              </a:rPr>
              <a:t>Versión</a:t>
            </a:r>
            <a:r>
              <a:rPr sz="1600" b="0" dirty="0">
                <a:solidFill>
                  <a:srgbClr val="FFFFFF"/>
                </a:solidFill>
              </a:rPr>
              <a:t> digital </a:t>
            </a:r>
            <a:r>
              <a:rPr sz="1600" b="0" dirty="0" err="1">
                <a:solidFill>
                  <a:srgbClr val="FFFFFF"/>
                </a:solidFill>
              </a:rPr>
              <a:t>en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blanco</a:t>
            </a:r>
            <a:r>
              <a:rPr sz="1600" b="0" dirty="0">
                <a:solidFill>
                  <a:srgbClr val="FFFFFF"/>
                </a:solidFill>
              </a:rPr>
              <a:t> y negro, </a:t>
            </a:r>
            <a:r>
              <a:rPr sz="1600" b="0" dirty="0" err="1">
                <a:solidFill>
                  <a:srgbClr val="FFFFFF"/>
                </a:solidFill>
              </a:rPr>
              <a:t>definiendo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estructura</a:t>
            </a:r>
            <a:r>
              <a:rPr sz="1600" b="0" dirty="0">
                <a:solidFill>
                  <a:srgbClr val="FFFFFF"/>
                </a:solidFill>
              </a:rPr>
              <a:t> y </a:t>
            </a:r>
            <a:r>
              <a:rPr sz="1600" b="0" dirty="0" err="1">
                <a:solidFill>
                  <a:srgbClr val="FFFFFF"/>
                </a:solidFill>
              </a:rPr>
              <a:t>jerarquía</a:t>
            </a:r>
            <a:r>
              <a:rPr sz="1600" b="0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4737" y="2548119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62380" y="2459663"/>
            <a:ext cx="2531078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A5D6FF"/>
                </a:solidFill>
              </a:rPr>
              <a:t>Definición</a:t>
            </a:r>
            <a:r>
              <a:rPr sz="1400" b="0" dirty="0">
                <a:solidFill>
                  <a:srgbClr val="FFFFFF"/>
                </a:solidFill>
              </a:rPr>
              <a:t> de </a:t>
            </a:r>
            <a:r>
              <a:rPr sz="1400" b="0" dirty="0" err="1">
                <a:solidFill>
                  <a:srgbClr val="FFFFFF"/>
                </a:solidFill>
              </a:rPr>
              <a:t>títulos</a:t>
            </a:r>
            <a:r>
              <a:rPr sz="1400" b="0" dirty="0">
                <a:solidFill>
                  <a:srgbClr val="FFFFFF"/>
                </a:solidFill>
              </a:rPr>
              <a:t> y </a:t>
            </a:r>
            <a:r>
              <a:rPr sz="1400" b="0" dirty="0" err="1">
                <a:solidFill>
                  <a:srgbClr val="FFFFFF"/>
                </a:solidFill>
              </a:rPr>
              <a:t>apartados</a:t>
            </a:r>
            <a:endParaRPr sz="1400" b="0" dirty="0">
              <a:solidFill>
                <a:srgbClr val="FFFFFF"/>
              </a:solidFill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4737" y="2804158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62380" y="2715703"/>
            <a:ext cx="2772875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</a:rPr>
              <a:t>Espacios para </a:t>
            </a:r>
            <a:r>
              <a:rPr sz="1400" b="0" dirty="0" err="1">
                <a:solidFill>
                  <a:srgbClr val="FFFFFF"/>
                </a:solidFill>
              </a:rPr>
              <a:t>imágenes</a:t>
            </a:r>
            <a:r>
              <a:rPr sz="1400" b="0" dirty="0">
                <a:solidFill>
                  <a:srgbClr val="FFFFFF"/>
                </a:solidFill>
              </a:rPr>
              <a:t> y </a:t>
            </a:r>
            <a:r>
              <a:rPr sz="1400" b="0" dirty="0" err="1">
                <a:solidFill>
                  <a:srgbClr val="FFFFFF"/>
                </a:solidFill>
              </a:rPr>
              <a:t>contenido</a:t>
            </a:r>
            <a:endParaRPr sz="1400" b="0" dirty="0">
              <a:solidFill>
                <a:srgbClr val="FFFFFF"/>
              </a:solidFill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4737" y="3068586"/>
            <a:ext cx="171445" cy="14932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62380" y="2980131"/>
            <a:ext cx="2448363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</a:rPr>
              <a:t>Jerarquía</a:t>
            </a:r>
            <a:r>
              <a:rPr sz="1400" b="0" dirty="0">
                <a:solidFill>
                  <a:srgbClr val="FFFFFF"/>
                </a:solidFill>
              </a:rPr>
              <a:t> visual y </a:t>
            </a:r>
            <a:r>
              <a:rPr sz="1400" b="0" dirty="0" err="1">
                <a:solidFill>
                  <a:srgbClr val="FFFFFF"/>
                </a:solidFill>
              </a:rPr>
              <a:t>navegabilidad</a:t>
            </a:r>
            <a:endParaRPr sz="1400" b="0" dirty="0">
              <a:solidFill>
                <a:srgbClr val="FFFFFF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514737" y="3371850"/>
            <a:ext cx="3152696" cy="3143250"/>
          </a:xfrm>
          <a:prstGeom prst="roundRect">
            <a:avLst>
              <a:gd name="adj" fmla="val 727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24261" y="3381375"/>
            <a:ext cx="3133646" cy="31242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067473" y="1047749"/>
            <a:ext cx="3457488" cy="5619750"/>
          </a:xfrm>
          <a:prstGeom prst="roundRect">
            <a:avLst>
              <a:gd name="adj" fmla="val 8815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1124921" y="1200150"/>
            <a:ext cx="247643" cy="2476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41699" y="1176243"/>
            <a:ext cx="226280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19869" y="1200150"/>
            <a:ext cx="428614" cy="428625"/>
          </a:xfrm>
          <a:prstGeom prst="roundRect">
            <a:avLst>
              <a:gd name="adj" fmla="val 50000"/>
            </a:avLst>
          </a:prstGeom>
          <a:solidFill>
            <a:srgbClr val="CE93D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15117" y="1312545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762780" y="1174397"/>
            <a:ext cx="1184299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</a:rPr>
              <a:t>Mockup</a:t>
            </a:r>
            <a:endParaRPr sz="1435" b="1" dirty="0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96057" y="1803373"/>
            <a:ext cx="3152696" cy="62337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975"/>
              </a:spcAft>
            </a:pPr>
            <a:r>
              <a:rPr sz="1600" b="0" dirty="0" err="1">
                <a:solidFill>
                  <a:srgbClr val="FFFFFF"/>
                </a:solidFill>
              </a:rPr>
              <a:t>Representación</a:t>
            </a:r>
            <a:r>
              <a:rPr sz="1600" b="0" dirty="0">
                <a:solidFill>
                  <a:srgbClr val="FFFFFF"/>
                </a:solidFill>
              </a:rPr>
              <a:t> a color y con </a:t>
            </a:r>
            <a:r>
              <a:rPr sz="1600" b="0" dirty="0" err="1">
                <a:solidFill>
                  <a:srgbClr val="FFFFFF"/>
                </a:solidFill>
              </a:rPr>
              <a:t>contenido</a:t>
            </a:r>
            <a:r>
              <a:rPr sz="1600" b="0" dirty="0">
                <a:solidFill>
                  <a:srgbClr val="FFFFFF"/>
                </a:solidFill>
              </a:rPr>
              <a:t> real, </a:t>
            </a:r>
            <a:r>
              <a:rPr sz="1600" b="0" dirty="0" err="1">
                <a:solidFill>
                  <a:srgbClr val="FFFFFF"/>
                </a:solidFill>
              </a:rPr>
              <a:t>cercana</a:t>
            </a:r>
            <a:r>
              <a:rPr sz="1600" b="0" dirty="0">
                <a:solidFill>
                  <a:srgbClr val="FFFFFF"/>
                </a:solidFill>
              </a:rPr>
              <a:t> al </a:t>
            </a:r>
            <a:r>
              <a:rPr sz="1600" b="0" dirty="0" err="1">
                <a:solidFill>
                  <a:srgbClr val="FFFFFF"/>
                </a:solidFill>
              </a:rPr>
              <a:t>producto</a:t>
            </a:r>
            <a:r>
              <a:rPr sz="1600" b="0" dirty="0">
                <a:solidFill>
                  <a:srgbClr val="FFFFFF"/>
                </a:solidFill>
              </a:rPr>
              <a:t> final.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61814" y="2556508"/>
            <a:ext cx="171445" cy="14932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467513" y="2451274"/>
            <a:ext cx="2528449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</a:rPr>
              <a:t>Imágenes</a:t>
            </a:r>
            <a:r>
              <a:rPr sz="1400" b="0" dirty="0">
                <a:solidFill>
                  <a:srgbClr val="FFFFFF"/>
                </a:solidFill>
              </a:rPr>
              <a:t> y </a:t>
            </a:r>
            <a:r>
              <a:rPr sz="1400" b="1" dirty="0" err="1">
                <a:solidFill>
                  <a:srgbClr val="A5D6FF"/>
                </a:solidFill>
              </a:rPr>
              <a:t>tipografías</a:t>
            </a:r>
            <a:r>
              <a:rPr sz="1400" b="1" dirty="0">
                <a:solidFill>
                  <a:srgbClr val="A5D6FF"/>
                </a:solidFill>
              </a:rPr>
              <a:t> </a:t>
            </a:r>
            <a:r>
              <a:rPr sz="1400" b="1" dirty="0" err="1">
                <a:solidFill>
                  <a:srgbClr val="A5D6FF"/>
                </a:solidFill>
              </a:rPr>
              <a:t>definidas</a:t>
            </a:r>
            <a:endParaRPr sz="1400" b="1" dirty="0">
              <a:solidFill>
                <a:srgbClr val="A5D6FF"/>
              </a:solidFill>
            </a:endParaRP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61814" y="2812547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467513" y="2715703"/>
            <a:ext cx="1864934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</a:rPr>
              <a:t>Paleta de </a:t>
            </a:r>
            <a:r>
              <a:rPr sz="1400" b="0" dirty="0" err="1">
                <a:solidFill>
                  <a:srgbClr val="FFFFFF"/>
                </a:solidFill>
              </a:rPr>
              <a:t>colores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oficial</a:t>
            </a:r>
            <a:endParaRPr sz="1400" b="0" dirty="0">
              <a:solidFill>
                <a:srgbClr val="FFFFFF"/>
              </a:solidFill>
            </a:endParaRP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61814" y="3068586"/>
            <a:ext cx="171445" cy="1493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467513" y="2980131"/>
            <a:ext cx="2571281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</a:rPr>
              <a:t>Elementos</a:t>
            </a:r>
            <a:r>
              <a:rPr sz="1400" b="0" dirty="0">
                <a:solidFill>
                  <a:srgbClr val="FFFFFF"/>
                </a:solidFill>
              </a:rPr>
              <a:t> multimedia </a:t>
            </a:r>
            <a:r>
              <a:rPr sz="1400" b="0" dirty="0" err="1">
                <a:solidFill>
                  <a:srgbClr val="FFFFFF"/>
                </a:solidFill>
              </a:rPr>
              <a:t>simulados</a:t>
            </a:r>
            <a:endParaRPr sz="1400" b="0" dirty="0">
              <a:solidFill>
                <a:srgbClr val="FFFFFF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219869" y="3371850"/>
            <a:ext cx="3152696" cy="3143250"/>
          </a:xfrm>
          <a:prstGeom prst="roundRect">
            <a:avLst>
              <a:gd name="adj" fmla="val 727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229394" y="3381375"/>
            <a:ext cx="3133646" cy="312420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9629B">
                <a:alpha val="95000"/>
              </a:srgbClr>
            </a:gs>
            <a:gs pos="100000">
              <a:srgbClr val="5E35B1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27003"/>
            <a:ext cx="5740354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</a:rPr>
              <a:t>Desarrollo: </a:t>
            </a:r>
            <a:r>
              <a:rPr sz="3200" b="1" dirty="0" err="1">
                <a:solidFill>
                  <a:srgbClr val="FFFFFF"/>
                </a:solidFill>
              </a:rPr>
              <a:t>Estructura</a:t>
            </a:r>
            <a:r>
              <a:rPr sz="3200" b="1" dirty="0">
                <a:solidFill>
                  <a:srgbClr val="FFFFFF"/>
                </a:solidFill>
              </a:rPr>
              <a:t> del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047749"/>
            <a:ext cx="3457488" cy="5619750"/>
          </a:xfrm>
          <a:prstGeom prst="roundRect">
            <a:avLst>
              <a:gd name="adj" fmla="val 8815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90795" y="1200150"/>
            <a:ext cx="790555" cy="266699"/>
          </a:xfrm>
          <a:prstGeom prst="roundRect">
            <a:avLst>
              <a:gd name="adj" fmla="val 14285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39355" y="1185713"/>
            <a:ext cx="750462" cy="2800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FFFFFF"/>
                </a:solidFill>
              </a:rPr>
              <a:t>Estructura</a:t>
            </a:r>
            <a:endParaRPr sz="837" b="1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19129" y="12001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CC8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2951" y="1375410"/>
            <a:ext cx="228594" cy="1257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38239" y="1198209"/>
            <a:ext cx="893130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</a:rPr>
              <a:t>HTML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1934696"/>
            <a:ext cx="285743" cy="2269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922326"/>
            <a:ext cx="2866953" cy="82894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</a:rPr>
              <a:t>Semántica</a:t>
            </a:r>
            <a:r>
              <a:rPr sz="1400" b="1" dirty="0">
                <a:solidFill>
                  <a:srgbClr val="FFFFFF"/>
                </a:solidFill>
              </a:rPr>
              <a:t> y </a:t>
            </a:r>
            <a:r>
              <a:rPr sz="1400" b="1" dirty="0" err="1">
                <a:solidFill>
                  <a:srgbClr val="FFFFFF"/>
                </a:solidFill>
              </a:rPr>
              <a:t>Accesibilidad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Estructura</a:t>
            </a:r>
            <a:r>
              <a:rPr sz="1400" b="0" dirty="0">
                <a:solidFill>
                  <a:srgbClr val="FFFFFF"/>
                </a:solidFill>
              </a:rPr>
              <a:t> HTML </a:t>
            </a:r>
            <a:r>
              <a:rPr sz="1400" b="0" dirty="0" err="1">
                <a:solidFill>
                  <a:srgbClr val="FFFFFF"/>
                </a:solidFill>
              </a:rPr>
              <a:t>semántica</a:t>
            </a:r>
            <a:r>
              <a:rPr sz="1400" b="0" dirty="0">
                <a:solidFill>
                  <a:srgbClr val="FFFFFF"/>
                </a:solidFill>
              </a:rPr>
              <a:t> (</a:t>
            </a:r>
            <a:r>
              <a:rPr sz="1400" b="1" dirty="0">
                <a:solidFill>
                  <a:srgbClr val="A5D6FF"/>
                </a:solidFill>
              </a:rPr>
              <a:t>header, section, footer</a:t>
            </a:r>
            <a:r>
              <a:rPr sz="1400" b="0" dirty="0">
                <a:solidFill>
                  <a:srgbClr val="FFFFFF"/>
                </a:solidFill>
              </a:rPr>
              <a:t>) </a:t>
            </a:r>
            <a:r>
              <a:rPr sz="1400" b="0" dirty="0" err="1">
                <a:solidFill>
                  <a:srgbClr val="FFFFFF"/>
                </a:solidFill>
              </a:rPr>
              <a:t>que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mejora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organización</a:t>
            </a:r>
            <a:r>
              <a:rPr sz="1400" b="0" dirty="0">
                <a:solidFill>
                  <a:srgbClr val="FFFFFF"/>
                </a:solidFill>
              </a:rPr>
              <a:t>, </a:t>
            </a:r>
            <a:r>
              <a:rPr sz="1400" b="0" dirty="0" err="1">
                <a:solidFill>
                  <a:srgbClr val="FFFFFF"/>
                </a:solidFill>
              </a:rPr>
              <a:t>accesibilidad</a:t>
            </a:r>
            <a:r>
              <a:rPr sz="1400" b="0" dirty="0">
                <a:solidFill>
                  <a:srgbClr val="FFFFFF"/>
                </a:solidFill>
              </a:rPr>
              <a:t> y SEO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29" y="2927410"/>
            <a:ext cx="285743" cy="2269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4872" y="2912206"/>
            <a:ext cx="2866953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</a:rPr>
              <a:t>Maquetación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Avanzada</a:t>
            </a:r>
            <a:r>
              <a:rPr sz="1400" b="0" dirty="0">
                <a:solidFill>
                  <a:srgbClr val="FFFFFF"/>
                </a:solidFill>
              </a:rPr>
              <a:t> Layout con </a:t>
            </a:r>
            <a:r>
              <a:rPr sz="1400" b="1" dirty="0">
                <a:solidFill>
                  <a:srgbClr val="A5D6FF"/>
                </a:solidFill>
              </a:rPr>
              <a:t>CSS Grid</a:t>
            </a:r>
            <a:r>
              <a:rPr sz="1400" b="0" dirty="0">
                <a:solidFill>
                  <a:srgbClr val="FFFFFF"/>
                </a:solidFill>
              </a:rPr>
              <a:t> para </a:t>
            </a:r>
            <a:r>
              <a:rPr sz="1400" b="0" dirty="0" err="1">
                <a:solidFill>
                  <a:srgbClr val="FFFFFF"/>
                </a:solidFill>
              </a:rPr>
              <a:t>distribución</a:t>
            </a:r>
            <a:r>
              <a:rPr sz="1400" b="0" dirty="0">
                <a:solidFill>
                  <a:srgbClr val="FFFFFF"/>
                </a:solidFill>
              </a:rPr>
              <a:t> moderna de dos columnas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604" y="4914900"/>
            <a:ext cx="3152696" cy="1523999"/>
          </a:xfrm>
          <a:prstGeom prst="roundRect">
            <a:avLst>
              <a:gd name="adj" fmla="val 1500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8654" y="5120218"/>
            <a:ext cx="3133646" cy="1080557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62340" y="1047749"/>
            <a:ext cx="3457488" cy="5619750"/>
          </a:xfrm>
          <a:prstGeom prst="roundRect">
            <a:avLst>
              <a:gd name="adj" fmla="val 8815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95947" y="1200150"/>
            <a:ext cx="581010" cy="266699"/>
          </a:xfrm>
          <a:prstGeom prst="roundRect">
            <a:avLst>
              <a:gd name="adj" fmla="val 14285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21348" y="1193462"/>
            <a:ext cx="548483" cy="2800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FFFFFF"/>
                </a:solidFill>
              </a:rPr>
              <a:t>Diseño</a:t>
            </a: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14737" y="12001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A5D6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8559" y="1349692"/>
            <a:ext cx="228594" cy="1771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33846" y="1198209"/>
            <a:ext cx="602986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9336" y="1947939"/>
            <a:ext cx="271454" cy="19960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86724" y="1880356"/>
            <a:ext cx="2866953" cy="8314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</a:rPr>
              <a:t>Diseño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Responsivo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endParaRPr lang="es-MX" sz="1400" b="0" dirty="0">
              <a:solidFill>
                <a:srgbClr val="FFFFFF"/>
              </a:solidFill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</a:rPr>
              <a:t>Adaptabilidad</a:t>
            </a:r>
            <a:r>
              <a:rPr sz="1400" b="0" dirty="0">
                <a:solidFill>
                  <a:srgbClr val="FFFFFF"/>
                </a:solidFill>
              </a:rPr>
              <a:t> total con </a:t>
            </a:r>
            <a:r>
              <a:rPr sz="1400" b="1" dirty="0">
                <a:solidFill>
                  <a:srgbClr val="A5D6FF"/>
                </a:solidFill>
              </a:rPr>
              <a:t>Media Queries</a:t>
            </a:r>
            <a:r>
              <a:rPr sz="1400" b="0" dirty="0">
                <a:solidFill>
                  <a:srgbClr val="FFFFFF"/>
                </a:solidFill>
              </a:rPr>
              <a:t>, </a:t>
            </a:r>
            <a:r>
              <a:rPr sz="1400" b="0" dirty="0" err="1">
                <a:solidFill>
                  <a:srgbClr val="FFFFFF"/>
                </a:solidFill>
              </a:rPr>
              <a:t>transición</a:t>
            </a:r>
            <a:r>
              <a:rPr sz="1400" b="0" dirty="0">
                <a:solidFill>
                  <a:srgbClr val="FFFFFF"/>
                </a:solidFill>
              </a:rPr>
              <a:t> de 2 columnas a 1 </a:t>
            </a:r>
            <a:r>
              <a:rPr sz="1400" b="0" dirty="0" err="1">
                <a:solidFill>
                  <a:srgbClr val="FFFFFF"/>
                </a:solidFill>
              </a:rPr>
              <a:t>en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pantallas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pequeñas</a:t>
            </a:r>
            <a:r>
              <a:rPr sz="1400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14737" y="2899661"/>
            <a:ext cx="238119" cy="1996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78256" y="2853517"/>
            <a:ext cx="2866953" cy="8314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</a:rPr>
              <a:t>Mantenibilidad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endParaRPr lang="es-MX" sz="1400" b="0" dirty="0">
              <a:solidFill>
                <a:srgbClr val="FFFFFF"/>
              </a:solidFill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</a:rPr>
              <a:t>Variables CSS (</a:t>
            </a:r>
            <a:r>
              <a:rPr sz="1400" b="1" dirty="0">
                <a:solidFill>
                  <a:srgbClr val="A5D6FF"/>
                </a:solidFill>
              </a:rPr>
              <a:t>:root</a:t>
            </a:r>
            <a:r>
              <a:rPr sz="1400" b="0" dirty="0">
                <a:solidFill>
                  <a:srgbClr val="FFFFFF"/>
                </a:solidFill>
              </a:rPr>
              <a:t>) para </a:t>
            </a:r>
            <a:r>
              <a:rPr sz="1400" b="0" dirty="0" err="1">
                <a:solidFill>
                  <a:srgbClr val="FFFFFF"/>
                </a:solidFill>
              </a:rPr>
              <a:t>gestión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centralizada</a:t>
            </a:r>
            <a:r>
              <a:rPr sz="1400" b="0" dirty="0">
                <a:solidFill>
                  <a:srgbClr val="FFFFFF"/>
                </a:solidFill>
              </a:rPr>
              <a:t> de </a:t>
            </a:r>
            <a:r>
              <a:rPr sz="1400" b="0" dirty="0" err="1">
                <a:solidFill>
                  <a:srgbClr val="FFFFFF"/>
                </a:solidFill>
              </a:rPr>
              <a:t>colores</a:t>
            </a:r>
            <a:r>
              <a:rPr sz="1400" b="0" dirty="0">
                <a:solidFill>
                  <a:srgbClr val="FFFFFF"/>
                </a:solidFill>
              </a:rPr>
              <a:t> y </a:t>
            </a:r>
            <a:r>
              <a:rPr sz="1400" b="0" dirty="0" err="1">
                <a:solidFill>
                  <a:srgbClr val="FFFFFF"/>
                </a:solidFill>
              </a:rPr>
              <a:t>dimensiones</a:t>
            </a:r>
            <a:r>
              <a:rPr sz="1400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97803" y="3876729"/>
            <a:ext cx="253813" cy="16423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64501" y="3792061"/>
            <a:ext cx="2866953" cy="8314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</a:rPr>
              <a:t>Layout Flexible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endParaRPr lang="es-MX" sz="1400" b="0" dirty="0">
              <a:solidFill>
                <a:srgbClr val="FFFFFF"/>
              </a:solidFill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</a:rPr>
              <a:t>Combinación</a:t>
            </a:r>
            <a:r>
              <a:rPr sz="1400" b="0" dirty="0">
                <a:solidFill>
                  <a:srgbClr val="FFFFFF"/>
                </a:solidFill>
              </a:rPr>
              <a:t> de CSS Grid (</a:t>
            </a:r>
            <a:r>
              <a:rPr sz="1400" b="0" dirty="0" err="1">
                <a:solidFill>
                  <a:srgbClr val="FFFFFF"/>
                </a:solidFill>
              </a:rPr>
              <a:t>estructura</a:t>
            </a:r>
            <a:r>
              <a:rPr sz="1400" b="0" dirty="0">
                <a:solidFill>
                  <a:srgbClr val="FFFFFF"/>
                </a:solidFill>
              </a:rPr>
              <a:t> principal) y Flexbox (</a:t>
            </a:r>
            <a:r>
              <a:rPr sz="1400" b="0" dirty="0" err="1">
                <a:solidFill>
                  <a:srgbClr val="FFFFFF"/>
                </a:solidFill>
              </a:rPr>
              <a:t>alineación</a:t>
            </a:r>
            <a:r>
              <a:rPr sz="1400" b="0" dirty="0">
                <a:solidFill>
                  <a:srgbClr val="FFFFFF"/>
                </a:solidFill>
              </a:rPr>
              <a:t> de </a:t>
            </a:r>
            <a:r>
              <a:rPr sz="1400" b="0" dirty="0" err="1">
                <a:solidFill>
                  <a:srgbClr val="FFFFFF"/>
                </a:solidFill>
              </a:rPr>
              <a:t>elementos</a:t>
            </a:r>
            <a:r>
              <a:rPr sz="1400" b="0" dirty="0">
                <a:solidFill>
                  <a:srgbClr val="FFFFFF"/>
                </a:solidFill>
              </a:rPr>
              <a:t>)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05211" y="4953527"/>
            <a:ext cx="3152696" cy="1523999"/>
          </a:xfrm>
          <a:prstGeom prst="roundRect">
            <a:avLst>
              <a:gd name="adj" fmla="val 1500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28493" y="5175113"/>
            <a:ext cx="3133646" cy="1072712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067473" y="1047749"/>
            <a:ext cx="3457488" cy="5619750"/>
          </a:xfrm>
          <a:prstGeom prst="roundRect">
            <a:avLst>
              <a:gd name="adj" fmla="val 8815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362940" y="1200150"/>
            <a:ext cx="1009624" cy="266699"/>
          </a:xfrm>
          <a:prstGeom prst="roundRect">
            <a:avLst>
              <a:gd name="adj" fmla="val 14285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13742" y="1197309"/>
            <a:ext cx="931602" cy="27238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FFFFFF"/>
                </a:solidFill>
              </a:rPr>
              <a:t>Funcionalidad</a:t>
            </a: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219869" y="12001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CE93D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43691" y="1401127"/>
            <a:ext cx="228594" cy="7429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38979" y="1198209"/>
            <a:ext cx="1421671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</a:rPr>
              <a:t>JavaScript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236131" y="1856251"/>
            <a:ext cx="269481" cy="32497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05612" y="1845400"/>
            <a:ext cx="2866953" cy="8314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</a:rPr>
              <a:t>Interactividad</a:t>
            </a:r>
            <a:r>
              <a:rPr sz="1400" b="1" dirty="0">
                <a:solidFill>
                  <a:srgbClr val="FFFFFF"/>
                </a:solidFill>
              </a:rPr>
              <a:t> Central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endParaRPr lang="es-MX" sz="1400" b="0" dirty="0">
              <a:solidFill>
                <a:srgbClr val="FFFFFF"/>
              </a:solidFill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</a:rPr>
              <a:t>Motor de </a:t>
            </a:r>
            <a:r>
              <a:rPr sz="1400" b="0" dirty="0" err="1">
                <a:solidFill>
                  <a:srgbClr val="FFFFFF"/>
                </a:solidFill>
              </a:rPr>
              <a:t>funcionalidades</a:t>
            </a:r>
            <a:r>
              <a:rPr sz="1400" b="0" dirty="0">
                <a:solidFill>
                  <a:srgbClr val="FFFFFF"/>
                </a:solidFill>
              </a:rPr>
              <a:t>: </a:t>
            </a:r>
            <a:r>
              <a:rPr sz="1400" b="1" dirty="0" err="1">
                <a:solidFill>
                  <a:srgbClr val="A5D6FF"/>
                </a:solidFill>
              </a:rPr>
              <a:t>Cuestionario</a:t>
            </a:r>
            <a:r>
              <a:rPr sz="1400" b="1" dirty="0">
                <a:solidFill>
                  <a:srgbClr val="A5D6FF"/>
                </a:solidFill>
              </a:rPr>
              <a:t> de </a:t>
            </a:r>
            <a:r>
              <a:rPr sz="1400" b="1" dirty="0" err="1">
                <a:solidFill>
                  <a:srgbClr val="A5D6FF"/>
                </a:solidFill>
              </a:rPr>
              <a:t>Síntomas</a:t>
            </a:r>
            <a:r>
              <a:rPr sz="1400" b="0" dirty="0">
                <a:solidFill>
                  <a:srgbClr val="FFFFFF"/>
                </a:solidFill>
              </a:rPr>
              <a:t> y </a:t>
            </a:r>
            <a:r>
              <a:rPr sz="1400" b="0" dirty="0" err="1">
                <a:solidFill>
                  <a:srgbClr val="FFFFFF"/>
                </a:solidFill>
              </a:rPr>
              <a:t>Localizador</a:t>
            </a:r>
            <a:r>
              <a:rPr sz="1400" b="0" dirty="0">
                <a:solidFill>
                  <a:srgbClr val="FFFFFF"/>
                </a:solidFill>
              </a:rPr>
              <a:t> de Centros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19869" y="2682308"/>
            <a:ext cx="290317" cy="21347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05612" y="2644443"/>
            <a:ext cx="2866953" cy="8314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</a:rPr>
              <a:t>Gestión</a:t>
            </a:r>
            <a:r>
              <a:rPr sz="1400" b="1" dirty="0">
                <a:solidFill>
                  <a:srgbClr val="FFFFFF"/>
                </a:solidFill>
              </a:rPr>
              <a:t> de Datos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endParaRPr lang="es-MX" sz="1400" b="0" dirty="0">
              <a:solidFill>
                <a:srgbClr val="FFFFFF"/>
              </a:solidFill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</a:rPr>
              <a:t>Arrays de </a:t>
            </a:r>
            <a:r>
              <a:rPr sz="1400" b="0" dirty="0" err="1">
                <a:solidFill>
                  <a:srgbClr val="FFFFFF"/>
                </a:solidFill>
              </a:rPr>
              <a:t>Objetos</a:t>
            </a:r>
            <a:r>
              <a:rPr sz="1400" b="0" dirty="0">
                <a:solidFill>
                  <a:srgbClr val="FFFFFF"/>
                </a:solidFill>
              </a:rPr>
              <a:t> y </a:t>
            </a:r>
            <a:r>
              <a:rPr sz="1400" b="0" dirty="0" err="1">
                <a:solidFill>
                  <a:srgbClr val="FFFFFF"/>
                </a:solidFill>
              </a:rPr>
              <a:t>Objetos</a:t>
            </a:r>
            <a:r>
              <a:rPr sz="1400" b="0" dirty="0">
                <a:solidFill>
                  <a:srgbClr val="FFFFFF"/>
                </a:solidFill>
              </a:rPr>
              <a:t> de </a:t>
            </a:r>
            <a:r>
              <a:rPr sz="1400" b="0" dirty="0" err="1">
                <a:solidFill>
                  <a:srgbClr val="FFFFFF"/>
                </a:solidFill>
              </a:rPr>
              <a:t>Mapeo</a:t>
            </a:r>
            <a:r>
              <a:rPr sz="1400" b="0" dirty="0">
                <a:solidFill>
                  <a:srgbClr val="FFFFFF"/>
                </a:solidFill>
              </a:rPr>
              <a:t> para </a:t>
            </a:r>
            <a:r>
              <a:rPr sz="1400" b="0" dirty="0" err="1">
                <a:solidFill>
                  <a:srgbClr val="FFFFFF"/>
                </a:solidFill>
              </a:rPr>
              <a:t>gestión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limpia</a:t>
            </a:r>
            <a:r>
              <a:rPr sz="1400" b="0" dirty="0">
                <a:solidFill>
                  <a:srgbClr val="FFFFFF"/>
                </a:solidFill>
              </a:rPr>
              <a:t> y </a:t>
            </a:r>
            <a:r>
              <a:rPr sz="1400" b="0" dirty="0" err="1">
                <a:solidFill>
                  <a:srgbClr val="FFFFFF"/>
                </a:solidFill>
              </a:rPr>
              <a:t>desacoplada</a:t>
            </a:r>
            <a:r>
              <a:rPr sz="1400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219869" y="3487826"/>
            <a:ext cx="285743" cy="26894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05612" y="3469602"/>
            <a:ext cx="2866953" cy="82894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</a:rPr>
              <a:t>Manipulación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Dinámica</a:t>
            </a:r>
            <a:r>
              <a:rPr sz="1400" b="1" dirty="0">
                <a:solidFill>
                  <a:srgbClr val="FFFFFF"/>
                </a:solidFill>
              </a:rPr>
              <a:t> del DOM</a:t>
            </a:r>
            <a:r>
              <a:rPr sz="1400" b="0" dirty="0">
                <a:solidFill>
                  <a:srgbClr val="FFFFFF"/>
                </a:solidFill>
              </a:rPr>
              <a:t> Uso de </a:t>
            </a:r>
            <a:r>
              <a:rPr sz="1400" b="1" dirty="0" err="1">
                <a:solidFill>
                  <a:srgbClr val="A5D6FF"/>
                </a:solidFill>
              </a:rPr>
              <a:t>Array.prototype.map</a:t>
            </a:r>
            <a:r>
              <a:rPr sz="1400" b="1" dirty="0">
                <a:solidFill>
                  <a:srgbClr val="A5D6FF"/>
                </a:solidFill>
              </a:rPr>
              <a:t>()</a:t>
            </a:r>
            <a:r>
              <a:rPr sz="1400" b="0" dirty="0">
                <a:solidFill>
                  <a:srgbClr val="FFFFFF"/>
                </a:solidFill>
              </a:rPr>
              <a:t> y </a:t>
            </a:r>
            <a:r>
              <a:rPr sz="1400" b="0" dirty="0" err="1">
                <a:solidFill>
                  <a:srgbClr val="FFFFFF"/>
                </a:solidFill>
              </a:rPr>
              <a:t>Element.innerHTML</a:t>
            </a:r>
            <a:r>
              <a:rPr sz="1400" b="0" dirty="0">
                <a:solidFill>
                  <a:srgbClr val="FFFFFF"/>
                </a:solidFill>
              </a:rPr>
              <a:t> para </a:t>
            </a:r>
            <a:r>
              <a:rPr sz="1400" b="0" dirty="0" err="1">
                <a:solidFill>
                  <a:srgbClr val="FFFFFF"/>
                </a:solidFill>
              </a:rPr>
              <a:t>generación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dinámica</a:t>
            </a:r>
            <a:r>
              <a:rPr sz="1400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219869" y="4303998"/>
            <a:ext cx="287454" cy="22827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505612" y="4292262"/>
            <a:ext cx="2866953" cy="8314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</a:rPr>
              <a:t>Lógica</a:t>
            </a:r>
            <a:r>
              <a:rPr sz="1400" b="1" dirty="0">
                <a:solidFill>
                  <a:srgbClr val="FFFFFF"/>
                </a:solidFill>
              </a:rPr>
              <a:t> de </a:t>
            </a:r>
            <a:r>
              <a:rPr sz="1400" b="1" dirty="0" err="1">
                <a:solidFill>
                  <a:srgbClr val="FFFFFF"/>
                </a:solidFill>
              </a:rPr>
              <a:t>Negocio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endParaRPr lang="es-MX" sz="1400" b="0" dirty="0">
              <a:solidFill>
                <a:srgbClr val="FFFFFF"/>
              </a:solidFill>
            </a:endParaR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</a:rPr>
              <a:t>Función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detectarETS</a:t>
            </a:r>
            <a:r>
              <a:rPr sz="1400" b="0" dirty="0">
                <a:solidFill>
                  <a:srgbClr val="FFFFFF"/>
                </a:solidFill>
              </a:rPr>
              <a:t>() </a:t>
            </a:r>
            <a:r>
              <a:rPr sz="1400" b="0" dirty="0" err="1">
                <a:solidFill>
                  <a:srgbClr val="FFFFFF"/>
                </a:solidFill>
              </a:rPr>
              <a:t>que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implementa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mapeo</a:t>
            </a:r>
            <a:r>
              <a:rPr sz="1400" b="0" dirty="0">
                <a:solidFill>
                  <a:srgbClr val="FFFFFF"/>
                </a:solidFill>
              </a:rPr>
              <a:t> de </a:t>
            </a:r>
            <a:r>
              <a:rPr sz="1400" b="0" dirty="0" err="1">
                <a:solidFill>
                  <a:srgbClr val="FFFFFF"/>
                </a:solidFill>
              </a:rPr>
              <a:t>síntomas</a:t>
            </a:r>
            <a:r>
              <a:rPr sz="1400" b="0" dirty="0">
                <a:solidFill>
                  <a:srgbClr val="FFFFFF"/>
                </a:solidFill>
              </a:rPr>
              <a:t> a </a:t>
            </a:r>
            <a:r>
              <a:rPr sz="1400" b="0" dirty="0" err="1">
                <a:solidFill>
                  <a:srgbClr val="FFFFFF"/>
                </a:solidFill>
              </a:rPr>
              <a:t>posibles</a:t>
            </a:r>
            <a:r>
              <a:rPr sz="1400" b="0" dirty="0">
                <a:solidFill>
                  <a:srgbClr val="FFFFFF"/>
                </a:solidFill>
              </a:rPr>
              <a:t> ETS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10344" y="5175114"/>
            <a:ext cx="3152696" cy="1269990"/>
          </a:xfrm>
          <a:prstGeom prst="roundRect">
            <a:avLst>
              <a:gd name="adj" fmla="val 1500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229393" y="5350901"/>
            <a:ext cx="3143171" cy="982026"/>
          </a:xfrm>
          <a:prstGeom prst="rect">
            <a:avLst/>
          </a:prstGeom>
          <a:blipFill>
            <a:blip r:embed="rId1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E35B1">
                <a:alpha val="95000"/>
              </a:srgbClr>
            </a:gs>
            <a:gs pos="100000">
              <a:srgbClr val="29629B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27003"/>
            <a:ext cx="4910768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FFFFFF"/>
                </a:solidFill>
              </a:rPr>
              <a:t>Alcance</a:t>
            </a:r>
            <a:r>
              <a:rPr sz="3200" b="1" dirty="0">
                <a:solidFill>
                  <a:srgbClr val="FFFFFF"/>
                </a:solidFill>
              </a:rPr>
              <a:t> Futuro del Proyecto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047749"/>
            <a:ext cx="5314817" cy="2695575"/>
          </a:xfrm>
          <a:prstGeom prst="roundRect">
            <a:avLst>
              <a:gd name="adj" fmla="val 11307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05292" y="1200150"/>
            <a:ext cx="514337" cy="266699"/>
          </a:xfrm>
          <a:prstGeom prst="roundRect">
            <a:avLst>
              <a:gd name="adj" fmla="val 14285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22226" y="1193462"/>
            <a:ext cx="485967" cy="2800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FFFFFF"/>
                </a:solidFill>
              </a:rPr>
              <a:t>Datos</a:t>
            </a:r>
            <a:endParaRPr sz="837" b="1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377" y="12953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CC8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5822" y="1498282"/>
            <a:ext cx="228594" cy="1657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8734" y="1310306"/>
            <a:ext cx="2245615" cy="5416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FFFFFF"/>
                </a:solidFill>
              </a:rPr>
              <a:t>Base de Datos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21190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2064684"/>
            <a:ext cx="2492029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A5D6FF"/>
                </a:solidFill>
              </a:rPr>
              <a:t>Resultados</a:t>
            </a:r>
            <a:r>
              <a:rPr sz="1600" b="0" dirty="0">
                <a:solidFill>
                  <a:srgbClr val="FFFFFF"/>
                </a:solidFill>
              </a:rPr>
              <a:t> de </a:t>
            </a:r>
            <a:r>
              <a:rPr sz="1600" b="0" dirty="0" err="1">
                <a:solidFill>
                  <a:srgbClr val="FFFFFF"/>
                </a:solidFill>
              </a:rPr>
              <a:t>cuestionarios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24714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00119" y="2417110"/>
            <a:ext cx="2033890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</a:rPr>
              <a:t>Historial</a:t>
            </a:r>
            <a:r>
              <a:rPr sz="1600" b="0" dirty="0">
                <a:solidFill>
                  <a:srgbClr val="FFFFFF"/>
                </a:solidFill>
              </a:rPr>
              <a:t> de </a:t>
            </a:r>
            <a:r>
              <a:rPr sz="1600" b="0" dirty="0" err="1">
                <a:solidFill>
                  <a:srgbClr val="FFFFFF"/>
                </a:solidFill>
              </a:rPr>
              <a:t>respuestas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2823882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0119" y="2769535"/>
            <a:ext cx="1700209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</a:rPr>
              <a:t>Estadísticas</a:t>
            </a:r>
            <a:r>
              <a:rPr sz="1600" b="0" dirty="0">
                <a:solidFill>
                  <a:srgbClr val="FFFFFF"/>
                </a:solidFill>
              </a:rPr>
              <a:t> de </a:t>
            </a:r>
            <a:r>
              <a:rPr sz="1600" b="0" dirty="0" err="1">
                <a:solidFill>
                  <a:srgbClr val="FFFFFF"/>
                </a:solidFill>
              </a:rPr>
              <a:t>uso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3185832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00119" y="3131485"/>
            <a:ext cx="1433534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</a:rPr>
              <a:t>Personalización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886202" y="2924635"/>
            <a:ext cx="1142971" cy="79513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210144" y="1047749"/>
            <a:ext cx="5314817" cy="2695575"/>
          </a:xfrm>
          <a:prstGeom prst="roundRect">
            <a:avLst>
              <a:gd name="adj" fmla="val 11307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677258" y="1200150"/>
            <a:ext cx="695307" cy="266699"/>
          </a:xfrm>
          <a:prstGeom prst="roundRect">
            <a:avLst>
              <a:gd name="adj" fmla="val 14285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6968" y="1193462"/>
            <a:ext cx="655885" cy="2800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</a:rPr>
              <a:t>Usuarios</a:t>
            </a:r>
            <a:endParaRPr sz="837" b="1" dirty="0">
              <a:solidFill>
                <a:srgbClr val="FFFFFF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57788" y="12953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A5D6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9234" y="1509712"/>
            <a:ext cx="228594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81670" y="1341084"/>
            <a:ext cx="2722925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</a:rPr>
              <a:t>Sistema de </a:t>
            </a:r>
            <a:r>
              <a:rPr sz="2400" b="1" dirty="0" err="1">
                <a:solidFill>
                  <a:srgbClr val="FFFFFF"/>
                </a:solidFill>
              </a:rPr>
              <a:t>Usuarios</a:t>
            </a:r>
            <a:endParaRPr sz="2400" b="1" dirty="0">
              <a:solidFill>
                <a:srgbClr val="FFFFFF"/>
              </a:solidFill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7788" y="2119032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43531" y="2064684"/>
            <a:ext cx="2308774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A5D6FF"/>
                </a:solidFill>
              </a:rPr>
              <a:t>Registro</a:t>
            </a:r>
            <a:r>
              <a:rPr sz="1600" b="0" dirty="0">
                <a:solidFill>
                  <a:srgbClr val="FFFFFF"/>
                </a:solidFill>
              </a:rPr>
              <a:t> e </a:t>
            </a:r>
            <a:r>
              <a:rPr sz="1600" b="0" dirty="0" err="1">
                <a:solidFill>
                  <a:srgbClr val="FFFFFF"/>
                </a:solidFill>
              </a:rPr>
              <a:t>inicio</a:t>
            </a:r>
            <a:r>
              <a:rPr sz="1600" b="0" dirty="0">
                <a:solidFill>
                  <a:srgbClr val="FFFFFF"/>
                </a:solidFill>
              </a:rPr>
              <a:t> de </a:t>
            </a:r>
            <a:r>
              <a:rPr sz="1600" b="0" dirty="0" err="1">
                <a:solidFill>
                  <a:srgbClr val="FFFFFF"/>
                </a:solidFill>
              </a:rPr>
              <a:t>sesión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7788" y="247145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43531" y="2417110"/>
            <a:ext cx="1414683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</a:rPr>
              <a:t>Perfiles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básicos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7788" y="282388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43531" y="2769535"/>
            <a:ext cx="2019207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FFFFFF"/>
                </a:solidFill>
              </a:rPr>
              <a:t>Guardado de </a:t>
            </a:r>
            <a:r>
              <a:rPr sz="1600" b="0" dirty="0" err="1">
                <a:solidFill>
                  <a:srgbClr val="FFFFFF"/>
                </a:solidFill>
              </a:rPr>
              <a:t>progreso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7788" y="3185832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43531" y="3131485"/>
            <a:ext cx="2300053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</a:rPr>
              <a:t>Experiencia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personalizada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0381990" y="3030238"/>
            <a:ext cx="1142971" cy="689527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66733" y="3981449"/>
            <a:ext cx="5314817" cy="2695575"/>
          </a:xfrm>
          <a:prstGeom prst="roundRect">
            <a:avLst>
              <a:gd name="adj" fmla="val 11307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762380" y="4133849"/>
            <a:ext cx="1057248" cy="266699"/>
          </a:xfrm>
          <a:prstGeom prst="roundRect">
            <a:avLst>
              <a:gd name="adj" fmla="val 14285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87781" y="4131008"/>
            <a:ext cx="998928" cy="27238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FFFFFF"/>
                </a:solidFill>
              </a:rPr>
              <a:t>Administración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377" y="42291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CE93D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85822" y="4426267"/>
            <a:ext cx="228594" cy="1771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628734" y="4274785"/>
            <a:ext cx="2809167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</a:rPr>
              <a:t>Panel </a:t>
            </a:r>
            <a:r>
              <a:rPr sz="2400" b="1" dirty="0" err="1">
                <a:solidFill>
                  <a:srgbClr val="FFFFFF"/>
                </a:solidFill>
              </a:rPr>
              <a:t>Administrativo</a:t>
            </a:r>
            <a:endParaRPr sz="2400" b="1" dirty="0">
              <a:solidFill>
                <a:srgbClr val="FFFFFF"/>
              </a:solidFill>
            </a:endParaRP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22844" y="504320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00119" y="4988860"/>
            <a:ext cx="1944571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A5D6FF"/>
                </a:solidFill>
              </a:rPr>
              <a:t>Gestión</a:t>
            </a:r>
            <a:r>
              <a:rPr sz="1600" b="0" dirty="0">
                <a:solidFill>
                  <a:srgbClr val="FFFFFF"/>
                </a:solidFill>
              </a:rPr>
              <a:t> de </a:t>
            </a:r>
            <a:r>
              <a:rPr sz="1600" b="0" dirty="0" err="1">
                <a:solidFill>
                  <a:srgbClr val="FFFFFF"/>
                </a:solidFill>
              </a:rPr>
              <a:t>contenido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4377" y="5405157"/>
            <a:ext cx="190495" cy="1624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00119" y="5350810"/>
            <a:ext cx="2117054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</a:rPr>
              <a:t>Publicar</a:t>
            </a:r>
            <a:r>
              <a:rPr sz="1600" b="0" dirty="0">
                <a:solidFill>
                  <a:srgbClr val="FFFFFF"/>
                </a:solidFill>
              </a:rPr>
              <a:t> nuevo material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4377" y="5757582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200119" y="5703235"/>
            <a:ext cx="2274212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</a:rPr>
              <a:t>Gestionar</a:t>
            </a:r>
            <a:r>
              <a:rPr sz="1600" b="0" dirty="0">
                <a:solidFill>
                  <a:srgbClr val="FFFFFF"/>
                </a:solidFill>
              </a:rPr>
              <a:t> blogs y </a:t>
            </a:r>
            <a:r>
              <a:rPr sz="1600" b="0" dirty="0" err="1">
                <a:solidFill>
                  <a:srgbClr val="FFFFFF"/>
                </a:solidFill>
              </a:rPr>
              <a:t>noticias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4377" y="6110007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200119" y="6055659"/>
            <a:ext cx="2359492" cy="31880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FFFFFF"/>
                </a:solidFill>
              </a:rPr>
              <a:t>Mantenimiento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autónomo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>
            <a:alphaModFix amt="10000"/>
          </a:blip>
          <a:stretch>
            <a:fillRect/>
          </a:stretch>
        </p:blipFill>
        <p:spPr>
          <a:xfrm>
            <a:off x="5006015" y="5813563"/>
            <a:ext cx="1142971" cy="863461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210144" y="3981449"/>
            <a:ext cx="5314817" cy="2695575"/>
          </a:xfrm>
          <a:prstGeom prst="roundRect">
            <a:avLst>
              <a:gd name="adj" fmla="val 11307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582010" y="4133849"/>
            <a:ext cx="790555" cy="266699"/>
          </a:xfrm>
          <a:prstGeom prst="roundRect">
            <a:avLst>
              <a:gd name="adj" fmla="val 14285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621469" y="4124912"/>
            <a:ext cx="726417" cy="27238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FFFFFF"/>
                </a:solidFill>
              </a:rPr>
              <a:t>Contenido</a:t>
            </a: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457788" y="42291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80DEE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29234" y="4417695"/>
            <a:ext cx="228594" cy="19430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181670" y="4274785"/>
            <a:ext cx="3028073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FFFFFF"/>
                </a:solidFill>
              </a:rPr>
              <a:t>Contenido</a:t>
            </a:r>
            <a:r>
              <a:rPr sz="2400" b="1" dirty="0">
                <a:solidFill>
                  <a:srgbClr val="FFFFFF"/>
                </a:solidFill>
              </a:rPr>
              <a:t> Multimedia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57788" y="5043207"/>
            <a:ext cx="190495" cy="16248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43531" y="5029200"/>
            <a:ext cx="1314417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A5D6FF"/>
                </a:solidFill>
              </a:rPr>
              <a:t>Videos</a:t>
            </a:r>
            <a:r>
              <a:rPr sz="1076" b="0">
                <a:solidFill>
                  <a:srgbClr val="FFFFFF"/>
                </a:solidFill>
              </a:rPr>
              <a:t> educativos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57788" y="5405157"/>
            <a:ext cx="190495" cy="16248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743531" y="5391150"/>
            <a:ext cx="161920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 err="1">
                <a:solidFill>
                  <a:srgbClr val="FFFFFF"/>
                </a:solidFill>
              </a:rPr>
              <a:t>Infografías</a:t>
            </a: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076" b="0" dirty="0" err="1">
                <a:solidFill>
                  <a:srgbClr val="FFFFFF"/>
                </a:solidFill>
              </a:rPr>
              <a:t>interactivas</a:t>
            </a:r>
            <a:endParaRPr sz="1076" b="0" dirty="0">
              <a:solidFill>
                <a:srgbClr val="FFFFFF"/>
              </a:solidFill>
            </a:endParaRP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57788" y="5757582"/>
            <a:ext cx="190495" cy="16248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743531" y="5743575"/>
            <a:ext cx="1562060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Publicaciones en blog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57788" y="6110007"/>
            <a:ext cx="190495" cy="16248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743531" y="6095999"/>
            <a:ext cx="134299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Noticias científicas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3">
            <a:alphaModFix amt="10000"/>
          </a:blip>
          <a:stretch>
            <a:fillRect/>
          </a:stretch>
        </p:blipFill>
        <p:spPr>
          <a:xfrm>
            <a:off x="10488268" y="5787959"/>
            <a:ext cx="1142971" cy="969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9629B">
                <a:alpha val="95000"/>
              </a:srgbClr>
            </a:gs>
            <a:gs pos="100000">
              <a:srgbClr val="5E35B1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1452D698-FA98-B6BD-92C2-18C44E7666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00"/>
          <a:stretch>
            <a:fillRect/>
          </a:stretch>
        </p:blipFill>
        <p:spPr>
          <a:xfrm>
            <a:off x="7326433" y="1508124"/>
            <a:ext cx="4426064" cy="469900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27003"/>
            <a:ext cx="2374304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FFFFFF"/>
                </a:solidFill>
              </a:rPr>
              <a:t>Conclusiones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6733" y="1016001"/>
            <a:ext cx="6210144" cy="2827867"/>
          </a:xfrm>
          <a:prstGeom prst="roundRect">
            <a:avLst>
              <a:gd name="adj" fmla="val 10289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78" y="1195036"/>
            <a:ext cx="3155929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1600" dirty="0"/>
              <a:t>  </a:t>
            </a:r>
            <a:r>
              <a:rPr sz="2400" b="1" dirty="0">
                <a:solidFill>
                  <a:srgbClr val="FFFFFF"/>
                </a:solidFill>
              </a:rPr>
              <a:t> Impacto del Proyecto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1306147"/>
            <a:ext cx="304792" cy="2579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377" y="1647682"/>
            <a:ext cx="5962500" cy="87023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FFFFFF"/>
                </a:solidFill>
              </a:rPr>
              <a:t>Esta </a:t>
            </a:r>
            <a:r>
              <a:rPr sz="1600" b="0" dirty="0" err="1">
                <a:solidFill>
                  <a:srgbClr val="FFFFFF"/>
                </a:solidFill>
              </a:rPr>
              <a:t>plataforma</a:t>
            </a:r>
            <a:r>
              <a:rPr sz="1600" b="0" dirty="0">
                <a:solidFill>
                  <a:srgbClr val="FFFFFF"/>
                </a:solidFill>
              </a:rPr>
              <a:t> web </a:t>
            </a:r>
            <a:r>
              <a:rPr sz="1600" b="0" dirty="0" err="1">
                <a:solidFill>
                  <a:srgbClr val="FFFFFF"/>
                </a:solidFill>
              </a:rPr>
              <a:t>educativa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sobre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salud</a:t>
            </a:r>
            <a:r>
              <a:rPr sz="1600" b="0" dirty="0">
                <a:solidFill>
                  <a:srgbClr val="FFFFFF"/>
                </a:solidFill>
              </a:rPr>
              <a:t> sexual </a:t>
            </a:r>
            <a:r>
              <a:rPr sz="1600" b="0" dirty="0" err="1">
                <a:solidFill>
                  <a:srgbClr val="FFFFFF"/>
                </a:solidFill>
              </a:rPr>
              <a:t>representa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una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A5D6FF"/>
                </a:solidFill>
              </a:rPr>
              <a:t>solución</a:t>
            </a:r>
            <a:r>
              <a:rPr sz="1600" b="1" dirty="0">
                <a:solidFill>
                  <a:srgbClr val="A5D6FF"/>
                </a:solidFill>
              </a:rPr>
              <a:t> integral</a:t>
            </a:r>
            <a:r>
              <a:rPr sz="1600" b="0" dirty="0">
                <a:solidFill>
                  <a:srgbClr val="FFFFFF"/>
                </a:solidFill>
              </a:rPr>
              <a:t> al </a:t>
            </a:r>
            <a:r>
              <a:rPr sz="1600" b="0" dirty="0" err="1">
                <a:solidFill>
                  <a:srgbClr val="FFFFFF"/>
                </a:solidFill>
              </a:rPr>
              <a:t>problema</a:t>
            </a:r>
            <a:r>
              <a:rPr sz="1600" b="0" dirty="0">
                <a:solidFill>
                  <a:srgbClr val="FFFFFF"/>
                </a:solidFill>
              </a:rPr>
              <a:t> de la </a:t>
            </a:r>
            <a:r>
              <a:rPr sz="1600" b="0" dirty="0" err="1">
                <a:solidFill>
                  <a:srgbClr val="FFFFFF"/>
                </a:solidFill>
              </a:rPr>
              <a:t>desinformación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sobre</a:t>
            </a:r>
            <a:r>
              <a:rPr sz="1600" b="0" dirty="0">
                <a:solidFill>
                  <a:srgbClr val="FFFFFF"/>
                </a:solidFill>
              </a:rPr>
              <a:t> ETS </a:t>
            </a:r>
            <a:r>
              <a:rPr sz="1600" b="0" dirty="0" err="1">
                <a:solidFill>
                  <a:srgbClr val="FFFFFF"/>
                </a:solidFill>
              </a:rPr>
              <a:t>en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nuestra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sociedad</a:t>
            </a:r>
            <a:r>
              <a:rPr sz="1600" b="0" dirty="0">
                <a:solidFill>
                  <a:srgbClr val="FFFFFF"/>
                </a:solidFill>
              </a:rPr>
              <a:t>.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377" y="2559051"/>
            <a:ext cx="1771605" cy="514350"/>
          </a:xfrm>
          <a:prstGeom prst="roundRect">
            <a:avLst>
              <a:gd name="adj" fmla="val 4444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4903" y="2701926"/>
            <a:ext cx="188531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33466" y="2657868"/>
            <a:ext cx="1330621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</a:rPr>
              <a:t>Diseño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intuitivo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28854" y="2559051"/>
            <a:ext cx="2276418" cy="514350"/>
          </a:xfrm>
          <a:prstGeom prst="roundRect">
            <a:avLst>
              <a:gd name="adj" fmla="val 4444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9349" y="2713355"/>
            <a:ext cx="228594" cy="2057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47943" y="2657868"/>
            <a:ext cx="1821332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</a:rPr>
              <a:t>Información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verificada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4377" y="3216276"/>
            <a:ext cx="1666833" cy="514350"/>
          </a:xfrm>
          <a:prstGeom prst="roundRect">
            <a:avLst>
              <a:gd name="adj" fmla="val 4444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4872" y="3384868"/>
            <a:ext cx="228594" cy="177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33466" y="3305568"/>
            <a:ext cx="1216872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</a:rPr>
              <a:t>Rompe</a:t>
            </a:r>
            <a:r>
              <a:rPr sz="1400" b="1" dirty="0">
                <a:solidFill>
                  <a:srgbClr val="FFFFFF"/>
                </a:solidFill>
              </a:rPr>
              <a:t> </a:t>
            </a:r>
            <a:r>
              <a:rPr sz="1400" b="1" dirty="0" err="1">
                <a:solidFill>
                  <a:srgbClr val="FFFFFF"/>
                </a:solidFill>
              </a:rPr>
              <a:t>tabúes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724081" y="3216276"/>
            <a:ext cx="1714457" cy="514350"/>
          </a:xfrm>
          <a:prstGeom prst="roundRect">
            <a:avLst>
              <a:gd name="adj" fmla="val 4444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14577" y="3364866"/>
            <a:ext cx="228594" cy="2171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43171" y="3305568"/>
            <a:ext cx="1250022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</a:rPr>
              <a:t>Espacio </a:t>
            </a:r>
            <a:r>
              <a:rPr sz="1400" b="1" dirty="0" err="1">
                <a:solidFill>
                  <a:srgbClr val="FFFFFF"/>
                </a:solidFill>
              </a:rPr>
              <a:t>seguro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66733" y="4021667"/>
            <a:ext cx="6210000" cy="1735667"/>
          </a:xfrm>
          <a:prstGeom prst="roundRect">
            <a:avLst>
              <a:gd name="adj" fmla="val 16161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1541" y="4170182"/>
            <a:ext cx="2600777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1600" dirty="0"/>
              <a:t>  </a:t>
            </a:r>
            <a:r>
              <a:rPr sz="2400" b="1" dirty="0">
                <a:solidFill>
                  <a:srgbClr val="FFFFFF"/>
                </a:solidFill>
              </a:rPr>
              <a:t> Base </a:t>
            </a:r>
            <a:r>
              <a:rPr sz="2400" b="1" dirty="0" err="1">
                <a:solidFill>
                  <a:srgbClr val="FFFFFF"/>
                </a:solidFill>
              </a:rPr>
              <a:t>Tecnológica</a:t>
            </a:r>
            <a:r>
              <a:rPr sz="2400" b="1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9247" y="4313065"/>
            <a:ext cx="416407" cy="224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0658" y="4650313"/>
            <a:ext cx="5962500" cy="86350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FFFFFF"/>
                </a:solidFill>
              </a:rPr>
              <a:t>La </a:t>
            </a:r>
            <a:r>
              <a:rPr sz="1600" b="0" dirty="0" err="1">
                <a:solidFill>
                  <a:srgbClr val="FFFFFF"/>
                </a:solidFill>
              </a:rPr>
              <a:t>tecnología</a:t>
            </a:r>
            <a:r>
              <a:rPr sz="1600" b="0" dirty="0">
                <a:solidFill>
                  <a:srgbClr val="FFFFFF"/>
                </a:solidFill>
              </a:rPr>
              <a:t> web moderna (</a:t>
            </a:r>
            <a:r>
              <a:rPr sz="1600" b="1" dirty="0">
                <a:solidFill>
                  <a:srgbClr val="A5D6FF"/>
                </a:solidFill>
              </a:rPr>
              <a:t>HTML5, CSS3, JavaScript</a:t>
            </a:r>
            <a:r>
              <a:rPr sz="1600" b="0" dirty="0">
                <a:solidFill>
                  <a:srgbClr val="FFFFFF"/>
                </a:solidFill>
              </a:rPr>
              <a:t>) </a:t>
            </a:r>
            <a:r>
              <a:rPr sz="1600" b="0" dirty="0" err="1">
                <a:solidFill>
                  <a:srgbClr val="FFFFFF"/>
                </a:solidFill>
              </a:rPr>
              <a:t>nos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permite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ofrecer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una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experiencia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accesible</a:t>
            </a:r>
            <a:r>
              <a:rPr sz="1600" b="0" dirty="0">
                <a:solidFill>
                  <a:srgbClr val="FFFFFF"/>
                </a:solidFill>
              </a:rPr>
              <a:t> y </a:t>
            </a:r>
            <a:r>
              <a:rPr sz="1600" b="0" dirty="0" err="1">
                <a:solidFill>
                  <a:srgbClr val="FFFFFF"/>
                </a:solidFill>
              </a:rPr>
              <a:t>responsiva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que</a:t>
            </a:r>
            <a:r>
              <a:rPr sz="1600" b="0" dirty="0">
                <a:solidFill>
                  <a:srgbClr val="FFFFFF"/>
                </a:solidFill>
              </a:rPr>
              <a:t> se </a:t>
            </a:r>
            <a:r>
              <a:rPr sz="1600" b="0" dirty="0" err="1">
                <a:solidFill>
                  <a:srgbClr val="FFFFFF"/>
                </a:solidFill>
              </a:rPr>
              <a:t>adapta</a:t>
            </a:r>
            <a:r>
              <a:rPr sz="1600" b="0" dirty="0">
                <a:solidFill>
                  <a:srgbClr val="FFFFFF"/>
                </a:solidFill>
              </a:rPr>
              <a:t> a las </a:t>
            </a:r>
            <a:r>
              <a:rPr sz="1600" b="0" dirty="0" err="1">
                <a:solidFill>
                  <a:srgbClr val="FFFFFF"/>
                </a:solidFill>
              </a:rPr>
              <a:t>necesidades</a:t>
            </a:r>
            <a:r>
              <a:rPr sz="1600" b="0" dirty="0">
                <a:solidFill>
                  <a:srgbClr val="FFFFFF"/>
                </a:solidFill>
              </a:rPr>
              <a:t> de </a:t>
            </a:r>
            <a:r>
              <a:rPr sz="1600" b="0" dirty="0" err="1">
                <a:solidFill>
                  <a:srgbClr val="FFFFFF"/>
                </a:solidFill>
              </a:rPr>
              <a:t>diferentes</a:t>
            </a:r>
            <a:r>
              <a:rPr sz="1600" b="0" dirty="0">
                <a:solidFill>
                  <a:srgbClr val="FFFFFF"/>
                </a:solidFill>
              </a:rPr>
              <a:t> </a:t>
            </a:r>
            <a:r>
              <a:rPr sz="1600" b="0" dirty="0" err="1">
                <a:solidFill>
                  <a:srgbClr val="FFFFFF"/>
                </a:solidFill>
              </a:rPr>
              <a:t>usuarios</a:t>
            </a:r>
            <a:r>
              <a:rPr sz="1600" b="0" dirty="0">
                <a:solidFill>
                  <a:srgbClr val="FFFFFF"/>
                </a:solidFill>
              </a:rPr>
              <a:t>.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5934074"/>
            <a:ext cx="6210000" cy="739776"/>
          </a:xfrm>
          <a:prstGeom prst="roundRect">
            <a:avLst>
              <a:gd name="adj" fmla="val 21621"/>
            </a:avLst>
          </a:prstGeom>
          <a:solidFill>
            <a:srgbClr val="FFFFFF">
              <a:alpha val="1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35229" y="6104016"/>
            <a:ext cx="2520754" cy="4051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913" b="1" dirty="0">
                <a:solidFill>
                  <a:schemeClr val="bg1"/>
                </a:solidFill>
              </a:rPr>
              <a:t>Gracias </a:t>
            </a:r>
            <a:r>
              <a:rPr sz="1913" b="1" dirty="0" err="1">
                <a:solidFill>
                  <a:schemeClr val="bg1"/>
                </a:solidFill>
              </a:rPr>
              <a:t>por</a:t>
            </a:r>
            <a:r>
              <a:rPr sz="1913" b="1" dirty="0">
                <a:solidFill>
                  <a:schemeClr val="bg1"/>
                </a:solidFill>
              </a:rPr>
              <a:t> </a:t>
            </a:r>
            <a:r>
              <a:rPr sz="1913" b="1" dirty="0" err="1">
                <a:solidFill>
                  <a:schemeClr val="bg1"/>
                </a:solidFill>
              </a:rPr>
              <a:t>su</a:t>
            </a:r>
            <a:r>
              <a:rPr sz="1913" b="1" dirty="0">
                <a:solidFill>
                  <a:schemeClr val="bg1"/>
                </a:solidFill>
              </a:rPr>
              <a:t> </a:t>
            </a:r>
            <a:r>
              <a:rPr sz="1913" b="1" dirty="0" err="1">
                <a:solidFill>
                  <a:schemeClr val="bg1"/>
                </a:solidFill>
              </a:rPr>
              <a:t>atención</a:t>
            </a:r>
            <a:endParaRPr sz="1913" b="1" dirty="0">
              <a:solidFill>
                <a:schemeClr val="bg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304289" y="5335840"/>
            <a:ext cx="4448208" cy="871289"/>
          </a:xfrm>
          <a:prstGeom prst="rect">
            <a:avLst/>
          </a:prstGeom>
          <a:gradFill rotWithShape="1">
            <a:gsLst>
              <a:gs pos="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04289" y="5861907"/>
            <a:ext cx="4448208" cy="27635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 dirty="0" err="1">
                <a:solidFill>
                  <a:srgbClr val="FFFFFF"/>
                </a:solidFill>
              </a:rPr>
              <a:t>Educación</a:t>
            </a:r>
            <a:r>
              <a:rPr sz="1076" b="1" dirty="0">
                <a:solidFill>
                  <a:srgbClr val="FFFFFF"/>
                </a:solidFill>
              </a:rPr>
              <a:t> sexual: clave para </a:t>
            </a:r>
            <a:r>
              <a:rPr sz="1076" b="1" dirty="0" err="1">
                <a:solidFill>
                  <a:srgbClr val="FFFFFF"/>
                </a:solidFill>
              </a:rPr>
              <a:t>una</a:t>
            </a:r>
            <a:r>
              <a:rPr sz="1076" b="1" dirty="0">
                <a:solidFill>
                  <a:srgbClr val="FFFFFF"/>
                </a:solidFill>
              </a:rPr>
              <a:t> </a:t>
            </a:r>
            <a:r>
              <a:rPr sz="1076" b="1" dirty="0" err="1">
                <a:solidFill>
                  <a:srgbClr val="FFFFFF"/>
                </a:solidFill>
              </a:rPr>
              <a:t>sociedad</a:t>
            </a:r>
            <a:r>
              <a:rPr sz="1076" b="1" dirty="0">
                <a:solidFill>
                  <a:srgbClr val="FFFFFF"/>
                </a:solidFill>
              </a:rPr>
              <a:t> </a:t>
            </a:r>
            <a:r>
              <a:rPr sz="1076" b="1" dirty="0" err="1">
                <a:solidFill>
                  <a:srgbClr val="FFFFFF"/>
                </a:solidFill>
              </a:rPr>
              <a:t>saludable</a:t>
            </a:r>
            <a:endParaRPr sz="1076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712</Words>
  <Application>Microsoft Office PowerPoint</Application>
  <PresentationFormat>Panorámica</PresentationFormat>
  <Paragraphs>123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Jacobo Morales londoño</cp:lastModifiedBy>
  <cp:revision>4</cp:revision>
  <dcterms:created xsi:type="dcterms:W3CDTF">2013-01-27T09:14:16Z</dcterms:created>
  <dcterms:modified xsi:type="dcterms:W3CDTF">2025-11-16T00:54:44Z</dcterms:modified>
  <cp:category/>
</cp:coreProperties>
</file>